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85" r:id="rId5"/>
    <p:sldId id="284" r:id="rId6"/>
    <p:sldId id="288" r:id="rId7"/>
    <p:sldId id="287" r:id="rId8"/>
    <p:sldId id="300" r:id="rId9"/>
    <p:sldId id="292" r:id="rId10"/>
    <p:sldId id="293" r:id="rId11"/>
    <p:sldId id="294" r:id="rId12"/>
    <p:sldId id="295" r:id="rId13"/>
    <p:sldId id="296" r:id="rId14"/>
    <p:sldId id="299" r:id="rId15"/>
    <p:sldId id="297" r:id="rId16"/>
    <p:sldId id="268" r:id="rId17"/>
    <p:sldId id="269" r:id="rId18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5" userDrawn="1">
          <p15:clr>
            <a:srgbClr val="A4A3A4"/>
          </p15:clr>
        </p15:guide>
        <p15:guide id="2" pos="21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B077AC-258C-4EDF-8354-5DAF1109AF66}" v="2" dt="2026-10-07T05:30:54.33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244" autoAdjust="0"/>
    <p:restoredTop sz="94660"/>
  </p:normalViewPr>
  <p:slideViewPr>
    <p:cSldViewPr showGuides="1">
      <p:cViewPr varScale="1">
        <p:scale>
          <a:sx n="80" d="100"/>
          <a:sy n="80" d="100"/>
        </p:scale>
        <p:origin x="1584" y="62"/>
      </p:cViewPr>
      <p:guideLst>
        <p:guide orient="horz" pos="2885"/>
        <p:guide pos="211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IL SAI KUMAR RERDDY" userId="a501b05c58845352" providerId="LiveId" clId="{9E2A742A-79FE-42C8-86BD-1E9CF32879D3}"/>
    <pc:docChg chg="undo custSel modSld">
      <pc:chgData name="NIKIL SAI KUMAR RERDDY" userId="a501b05c58845352" providerId="LiveId" clId="{9E2A742A-79FE-42C8-86BD-1E9CF32879D3}" dt="2026-10-07T05:31:47.284" v="7" actId="20577"/>
      <pc:docMkLst>
        <pc:docMk/>
      </pc:docMkLst>
      <pc:sldChg chg="addSp modSp">
        <pc:chgData name="NIKIL SAI KUMAR RERDDY" userId="a501b05c58845352" providerId="LiveId" clId="{9E2A742A-79FE-42C8-86BD-1E9CF32879D3}" dt="2026-09-30T09:30:05.516" v="0" actId="767"/>
        <pc:sldMkLst>
          <pc:docMk/>
          <pc:sldMk cId="0" sldId="256"/>
        </pc:sldMkLst>
        <pc:spChg chg="add mod">
          <ac:chgData name="NIKIL SAI KUMAR RERDDY" userId="a501b05c58845352" providerId="LiveId" clId="{9E2A742A-79FE-42C8-86BD-1E9CF32879D3}" dt="2026-09-30T09:30:05.516" v="0" actId="767"/>
          <ac:spMkLst>
            <pc:docMk/>
            <pc:sldMk cId="0" sldId="256"/>
            <ac:spMk id="5" creationId="{C57869BF-746B-1974-B9AD-3B3537CFF11A}"/>
          </ac:spMkLst>
        </pc:spChg>
      </pc:sldChg>
      <pc:sldChg chg="modSp mod">
        <pc:chgData name="NIKIL SAI KUMAR RERDDY" userId="a501b05c58845352" providerId="LiveId" clId="{9E2A742A-79FE-42C8-86BD-1E9CF32879D3}" dt="2026-10-07T05:31:47.284" v="7" actId="20577"/>
        <pc:sldMkLst>
          <pc:docMk/>
          <pc:sldMk cId="0" sldId="300"/>
        </pc:sldMkLst>
        <pc:spChg chg="mod">
          <ac:chgData name="NIKIL SAI KUMAR RERDDY" userId="a501b05c58845352" providerId="LiveId" clId="{9E2A742A-79FE-42C8-86BD-1E9CF32879D3}" dt="2026-10-07T05:31:47.284" v="7" actId="20577"/>
          <ac:spMkLst>
            <pc:docMk/>
            <pc:sldMk cId="0" sldId="300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419B0A-DB98-47ED-A0D2-B47FD394FE07}" type="datetimeFigureOut">
              <a:rPr lang="en-IN" smtClean="0"/>
              <a:t>07-10-2026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E471F2-2083-493A-8C9E-53209FFA1EC8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48056" y="258722"/>
            <a:ext cx="4601366" cy="70479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530316" y="125730"/>
            <a:ext cx="4997767" cy="104513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663904" y="251407"/>
            <a:ext cx="4577410" cy="50684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2718911" y="290750"/>
            <a:ext cx="4471670" cy="400685"/>
          </a:xfrm>
          <a:custGeom>
            <a:avLst/>
            <a:gdLst/>
            <a:ahLst/>
            <a:cxnLst/>
            <a:rect l="l" t="t" r="r" b="b"/>
            <a:pathLst>
              <a:path w="4471670" h="400684">
                <a:moveTo>
                  <a:pt x="4386510" y="0"/>
                </a:moveTo>
                <a:lnTo>
                  <a:pt x="84762" y="0"/>
                </a:lnTo>
                <a:lnTo>
                  <a:pt x="51758" y="5238"/>
                </a:lnTo>
                <a:lnTo>
                  <a:pt x="24831" y="19592"/>
                </a:lnTo>
                <a:lnTo>
                  <a:pt x="6705" y="40757"/>
                </a:lnTo>
                <a:lnTo>
                  <a:pt x="0" y="66741"/>
                </a:lnTo>
                <a:lnTo>
                  <a:pt x="0" y="333813"/>
                </a:lnTo>
                <a:lnTo>
                  <a:pt x="6705" y="359797"/>
                </a:lnTo>
                <a:lnTo>
                  <a:pt x="24831" y="381066"/>
                </a:lnTo>
                <a:lnTo>
                  <a:pt x="51758" y="395316"/>
                </a:lnTo>
                <a:lnTo>
                  <a:pt x="84762" y="400554"/>
                </a:lnTo>
                <a:lnTo>
                  <a:pt x="4386510" y="400554"/>
                </a:lnTo>
                <a:lnTo>
                  <a:pt x="4419514" y="395316"/>
                </a:lnTo>
                <a:lnTo>
                  <a:pt x="4446441" y="381066"/>
                </a:lnTo>
                <a:lnTo>
                  <a:pt x="4464567" y="359797"/>
                </a:lnTo>
                <a:lnTo>
                  <a:pt x="4471273" y="333813"/>
                </a:lnTo>
                <a:lnTo>
                  <a:pt x="4471273" y="66741"/>
                </a:lnTo>
                <a:lnTo>
                  <a:pt x="4464567" y="40757"/>
                </a:lnTo>
                <a:lnTo>
                  <a:pt x="4446441" y="19592"/>
                </a:lnTo>
                <a:lnTo>
                  <a:pt x="4419514" y="5238"/>
                </a:lnTo>
                <a:lnTo>
                  <a:pt x="4386510" y="0"/>
                </a:lnTo>
                <a:close/>
              </a:path>
            </a:pathLst>
          </a:custGeom>
          <a:solidFill>
            <a:srgbClr val="FF66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292554" y="282840"/>
            <a:ext cx="3375117" cy="56971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30970" y="881554"/>
            <a:ext cx="2528570" cy="3752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00" b="1" i="0">
                <a:solidFill>
                  <a:srgbClr val="375F92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1188" y="1409149"/>
            <a:ext cx="8949055" cy="3294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1" i="0">
                <a:solidFill>
                  <a:schemeClr val="tx1"/>
                </a:solidFill>
                <a:latin typeface="Palatino Linotype" panose="02040502050505030304"/>
                <a:cs typeface="Palatino Linotype" panose="02040502050505030304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panganikilsaikumarreddy2507-sketch/online-shopping-system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93969" y="211046"/>
            <a:ext cx="4610910" cy="62864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9320" y="996950"/>
            <a:ext cx="7823835" cy="1273175"/>
          </a:xfrm>
          <a:prstGeom prst="rect">
            <a:avLst/>
          </a:prstGeom>
        </p:spPr>
        <p:txBody>
          <a:bodyPr vert="horz" wrap="square" lIns="0" tIns="11430" rIns="0" bIns="0" rtlCol="0">
            <a:noAutofit/>
          </a:bodyPr>
          <a:lstStyle/>
          <a:p>
            <a:pPr marL="12700" algn="ctr">
              <a:lnSpc>
                <a:spcPct val="150000"/>
              </a:lnSpc>
              <a:spcBef>
                <a:spcPts val="90"/>
              </a:spcBef>
            </a:pPr>
            <a:r>
              <a:rPr lang="en-IN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Systems Cornerstone Project</a:t>
            </a:r>
            <a:b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Review (Review I &amp; II)</a:t>
            </a:r>
            <a:endParaRPr sz="2200" spc="-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xfrm>
            <a:off x="653415" y="2395220"/>
            <a:ext cx="8751570" cy="4932045"/>
          </a:xfrm>
          <a:prstGeom prst="rect">
            <a:avLst/>
          </a:prstGeom>
        </p:spPr>
        <p:txBody>
          <a:bodyPr vert="horz" wrap="square" lIns="0" tIns="16510" rIns="0" bIns="0" rtlCol="0">
            <a:noAutofit/>
          </a:bodyPr>
          <a:lstStyle/>
          <a:p>
            <a:pPr algn="ctr">
              <a:spcBef>
                <a:spcPts val="130"/>
              </a:spcBef>
            </a:pPr>
            <a:r>
              <a:rPr lang="en-IN" sz="2400" dirty="0"/>
              <a:t>ONLINE SHOPPING SYSTEM</a:t>
            </a:r>
            <a:br>
              <a:rPr lang="en-IN" sz="2400" dirty="0"/>
            </a:br>
            <a:r>
              <a:rPr lang="en-IN" sz="2400" dirty="0"/>
              <a:t>Database design and SQL implementation for an e-commerce platform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Presented by</a:t>
            </a:r>
            <a:br>
              <a:rPr lang="en-IN" sz="2400" dirty="0"/>
            </a:br>
            <a:r>
              <a:rPr lang="en-IN" sz="2400" dirty="0"/>
              <a:t>Panga Nikil Sai Kumar — 25B11AI895</a:t>
            </a:r>
            <a:br>
              <a:rPr lang="en-IN" sz="2400" dirty="0"/>
            </a:br>
            <a:r>
              <a:rPr lang="en-IN" sz="2400" dirty="0"/>
              <a:t>Pitta Srilekha Thara — 25B11AI966</a:t>
            </a:r>
            <a:br>
              <a:rPr lang="en-IN" sz="2400" dirty="0"/>
            </a:br>
            <a:r>
              <a:rPr lang="en-IN" sz="2400" dirty="0"/>
              <a:t>Anusuri Shanmuka Priya Lakshmi — 25B11AI056</a:t>
            </a:r>
            <a:br>
              <a:rPr lang="en-IN" sz="2400" dirty="0"/>
            </a:br>
            <a:r>
              <a:rPr lang="en-IN" sz="2400" dirty="0" err="1"/>
              <a:t>Pedireddy</a:t>
            </a:r>
            <a:r>
              <a:rPr lang="en-IN" sz="2400" dirty="0"/>
              <a:t> Surya </a:t>
            </a:r>
            <a:r>
              <a:rPr lang="en-IN" sz="2400" dirty="0" err="1"/>
              <a:t>Prakesh</a:t>
            </a:r>
            <a:r>
              <a:rPr lang="en-IN" sz="2400" dirty="0"/>
              <a:t> — 25B11AI929</a:t>
            </a:r>
            <a:br>
              <a:rPr lang="en-IN" sz="2400" dirty="0"/>
            </a:br>
            <a:br>
              <a:rPr lang="en-IN" sz="2400" dirty="0"/>
            </a:br>
            <a:r>
              <a:rPr lang="en-IN" sz="2400" dirty="0"/>
              <a:t>Department of Artificial Intelligence &amp; Machine Learning</a:t>
            </a:r>
          </a:p>
          <a:p>
            <a:pPr algn="ctr">
              <a:lnSpc>
                <a:spcPct val="100000"/>
              </a:lnSpc>
              <a:spcBef>
                <a:spcPts val="130"/>
              </a:spcBef>
            </a:pPr>
            <a:endParaRPr lang="en-IN" sz="220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" algn="ctr">
              <a:lnSpc>
                <a:spcPct val="100000"/>
              </a:lnSpc>
              <a:spcBef>
                <a:spcPts val="995"/>
              </a:spcBef>
            </a:pPr>
            <a:endParaRPr lang="en-IN" sz="1650" spc="-10" dirty="0">
              <a:solidFill>
                <a:srgbClr val="94373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7869BF-746B-1974-B9AD-3B3537CFF11A}"/>
              </a:ext>
            </a:extLst>
          </p:cNvPr>
          <p:cNvSpPr txBox="1"/>
          <p:nvPr/>
        </p:nvSpPr>
        <p:spPr>
          <a:xfrm>
            <a:off x="10706100" y="16287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5" name="object 3"/>
          <p:cNvGrpSpPr/>
          <p:nvPr/>
        </p:nvGrpSpPr>
        <p:grpSpPr>
          <a:xfrm>
            <a:off x="2438400" y="33670"/>
            <a:ext cx="5334000" cy="1198311"/>
            <a:chOff x="2648188" y="47148"/>
            <a:chExt cx="5103904" cy="1198311"/>
          </a:xfrm>
        </p:grpSpPr>
        <p:pic>
          <p:nvPicPr>
            <p:cNvPr id="6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7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8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9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9"/>
          <p:cNvSpPr txBox="1"/>
          <p:nvPr/>
        </p:nvSpPr>
        <p:spPr>
          <a:xfrm>
            <a:off x="3604543" y="286092"/>
            <a:ext cx="2853690" cy="35522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30"/>
              </a:spcBef>
            </a:pPr>
            <a:r>
              <a:rPr lang="en-IN" sz="2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Outline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57200" y="838200"/>
            <a:ext cx="5248275" cy="64738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IN" sz="3200" dirty="0">
              <a:latin typeface="Arial Narrow" panose="020B0606020202030204" charset="0"/>
              <a:ea typeface="Microsoft YaHei" panose="020B0503020204020204" charset="-122"/>
              <a:cs typeface="Arial Narrow" panose="020B060602020203020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410200" y="1828800"/>
            <a:ext cx="4740910" cy="3917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130"/>
              </a:spcBef>
              <a:buFont typeface="+mj-lt"/>
              <a:buNone/>
              <a:tabLst>
                <a:tab pos="389890" algn="l"/>
              </a:tabLst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9.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Insert sample data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10.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DDL, DML &amp; DQL operations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11.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CRUD operations &amp; SQL queries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12.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integrity &amp; validation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13.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documentation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14.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Demonstrate &amp; present database</a:t>
            </a:r>
          </a:p>
          <a:p>
            <a:pPr>
              <a:lnSpc>
                <a:spcPct val="100000"/>
              </a:lnSpc>
              <a:spcBef>
                <a:spcPts val="2060"/>
              </a:spcBef>
              <a:tabLst>
                <a:tab pos="389890" algn="l"/>
              </a:tabLst>
            </a:pPr>
            <a:r>
              <a:rPr lang="en-US" alt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15.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</a:t>
            </a:r>
            <a:endParaRPr lang="en-IN" sz="2000" dirty="0">
              <a:latin typeface="Arial Narrow" panose="020B0606020202030204" charset="0"/>
              <a:cs typeface="Arial Narrow" panose="020B06060202020302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04800" y="1371600"/>
            <a:ext cx="5029200" cy="47104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30"/>
              </a:spcBef>
              <a:buFont typeface="Cambria" panose="02040503050406030204"/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Abstract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Finalize title, objectives &amp; problem statement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Identify entities &amp; attributes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ER diagram &amp; relationships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Prepare relational database schema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Define Primary &amp; Foreign Keys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Create GitHub repo &amp; responsibilities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indent="-377190">
              <a:lnSpc>
                <a:spcPct val="100000"/>
              </a:lnSpc>
              <a:spcBef>
                <a:spcPts val="2060"/>
              </a:spcBef>
              <a:buAutoNum type="arabicPeriod"/>
              <a:tabLst>
                <a:tab pos="389890" algn="l"/>
              </a:tabLs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Database creation &amp; constraints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5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6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7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8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4419600" y="381000"/>
            <a:ext cx="5029200" cy="3009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just"/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90830" y="1905000"/>
            <a:ext cx="9615170" cy="5060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700"/>
              </a:spcAft>
              <a:defRPr sz="1600"/>
            </a:pPr>
            <a:r>
              <a:rPr lang="en-US" sz="2400" dirty="0">
                <a:latin typeface="+mj-ea"/>
                <a:cs typeface="+mj-ea"/>
              </a:rPr>
              <a:t>Problem statement: </a:t>
            </a:r>
            <a:r>
              <a:rPr lang="en-US" sz="2400" dirty="0">
                <a:latin typeface="+mj-lt"/>
                <a:cs typeface="+mj-lt"/>
              </a:rPr>
              <a:t>Manual/spreadsheet-based shopping records cause redundancy, weak integrity, slow retrieval and poor scalability.</a:t>
            </a:r>
          </a:p>
          <a:p>
            <a:pPr>
              <a:spcAft>
                <a:spcPts val="700"/>
              </a:spcAft>
              <a:defRPr sz="1600"/>
            </a:pPr>
            <a:r>
              <a:rPr lang="en-US" sz="2000" dirty="0"/>
              <a:t>Objective 1: Model customers, products, categories, orders, payments, shipping </a:t>
            </a:r>
          </a:p>
          <a:p>
            <a:pPr>
              <a:spcAft>
                <a:spcPts val="700"/>
              </a:spcAft>
              <a:defRPr sz="1600"/>
            </a:pPr>
            <a:r>
              <a:rPr lang="en-US" sz="2000" dirty="0"/>
              <a:t>                     and reviews.</a:t>
            </a:r>
          </a:p>
          <a:p>
            <a:pPr>
              <a:spcAft>
                <a:spcPts val="700"/>
              </a:spcAft>
              <a:defRPr sz="1600"/>
            </a:pPr>
            <a:r>
              <a:rPr lang="en-US" sz="2000" dirty="0"/>
              <a:t>Objective 2: Convert the ER model into normalized relational tables with PK/FK     </a:t>
            </a:r>
          </a:p>
          <a:p>
            <a:pPr>
              <a:spcAft>
                <a:spcPts val="700"/>
              </a:spcAft>
              <a:defRPr sz="1600"/>
            </a:pPr>
            <a:r>
              <a:rPr lang="en-US" sz="2000" dirty="0"/>
              <a:t>                     </a:t>
            </a:r>
            <a:r>
              <a:rPr lang="en-US" altLang="en-US" sz="2000" dirty="0"/>
              <a:t>integrity.</a:t>
            </a:r>
          </a:p>
          <a:p>
            <a:pPr>
              <a:spcAft>
                <a:spcPts val="700"/>
              </a:spcAft>
              <a:defRPr sz="1600"/>
            </a:pPr>
            <a:r>
              <a:rPr lang="en-US" sz="2000" dirty="0"/>
              <a:t>Objective 3: Support SQL operations for data maintenance, retrieval,  reporting and </a:t>
            </a:r>
          </a:p>
          <a:p>
            <a:pPr>
              <a:spcAft>
                <a:spcPts val="700"/>
              </a:spcAft>
              <a:defRPr sz="1600"/>
            </a:pPr>
            <a:r>
              <a:rPr lang="en-US" sz="2000" dirty="0"/>
              <a:t>                    </a:t>
            </a:r>
            <a:r>
              <a:rPr lang="en-US" sz="2000" dirty="0">
                <a:sym typeface="+mn-ea"/>
              </a:rPr>
              <a:t>validation.</a:t>
            </a:r>
            <a:endParaRPr lang="en-US" sz="2000" dirty="0"/>
          </a:p>
          <a:p>
            <a:pPr>
              <a:spcAft>
                <a:spcPts val="700"/>
              </a:spcAft>
              <a:defRPr sz="1600"/>
            </a:pPr>
            <a:r>
              <a:rPr lang="en-US" sz="2000" dirty="0"/>
              <a:t>  Scope: Database design and SQL implementation for an online-shopping domain.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99110" y="1216660"/>
            <a:ext cx="699325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2200" b="1"/>
            </a:pPr>
            <a:r>
              <a:rPr lang="en-IN" sz="2800" dirty="0"/>
              <a:t>ONLINE SHOPPING SYSTEM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187325" y="1960245"/>
            <a:ext cx="2796540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ENTITIES &amp; 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0574" y="1142984"/>
            <a:ext cx="6781800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IN" sz="2800" b="1" dirty="0"/>
              <a:t>8 </a:t>
            </a:r>
            <a:r>
              <a:rPr lang="en-IN" sz="2800" b="1" dirty="0"/>
              <a:t>core </a:t>
            </a:r>
            <a:r>
              <a:rPr lang="en-US" altLang="en-IN" sz="2800" b="1" dirty="0"/>
              <a:t>E</a:t>
            </a:r>
            <a:r>
              <a:rPr lang="en-IN" sz="2800" b="1" dirty="0"/>
              <a:t>ntities / </a:t>
            </a:r>
            <a:r>
              <a:rPr lang="en-US" altLang="en-IN" sz="2800" b="1" dirty="0"/>
              <a:t>R</a:t>
            </a:r>
            <a:r>
              <a:rPr lang="en-IN" sz="2800" b="1" dirty="0"/>
              <a:t>elations</a:t>
            </a: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2715" y="1969135"/>
            <a:ext cx="10078085" cy="27336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spcAft>
                <a:spcPts val="700"/>
              </a:spcAft>
              <a:defRPr sz="1400"/>
            </a:pPr>
            <a:r>
              <a:rPr lang="en-US" sz="2000" dirty="0"/>
              <a:t>1. CUSTOMER — </a:t>
            </a:r>
            <a:r>
              <a:rPr lang="en-US" sz="2000" dirty="0" err="1"/>
              <a:t>customer_id</a:t>
            </a:r>
            <a:r>
              <a:rPr lang="en-US" sz="2000" dirty="0"/>
              <a:t>, name, email, phone, password, address, city, </a:t>
            </a:r>
            <a:r>
              <a:rPr lang="en-US" sz="2000" dirty="0" err="1"/>
              <a:t>pincode</a:t>
            </a:r>
            <a:endParaRPr lang="en-US" sz="2000" dirty="0"/>
          </a:p>
          <a:p>
            <a:pPr>
              <a:spcAft>
                <a:spcPts val="700"/>
              </a:spcAft>
              <a:defRPr sz="1400"/>
            </a:pPr>
            <a:r>
              <a:rPr lang="en-US" sz="2000" dirty="0"/>
              <a:t>2. PRODUCT — </a:t>
            </a:r>
            <a:r>
              <a:rPr lang="en-US" sz="2000" dirty="0" err="1"/>
              <a:t>product_id</a:t>
            </a:r>
            <a:r>
              <a:rPr lang="en-US" sz="2000" dirty="0"/>
              <a:t>, name, description, price, </a:t>
            </a:r>
            <a:r>
              <a:rPr lang="en-US" sz="2000" dirty="0" err="1"/>
              <a:t>stock_qty</a:t>
            </a:r>
            <a:r>
              <a:rPr lang="en-US" sz="2000" dirty="0"/>
              <a:t>, </a:t>
            </a:r>
            <a:r>
              <a:rPr lang="en-US" sz="2000" dirty="0" err="1"/>
              <a:t>category_id</a:t>
            </a:r>
            <a:endParaRPr lang="en-US" sz="2000" dirty="0"/>
          </a:p>
          <a:p>
            <a:pPr>
              <a:spcAft>
                <a:spcPts val="700"/>
              </a:spcAft>
              <a:defRPr sz="1400"/>
            </a:pPr>
            <a:r>
              <a:rPr lang="en-US" sz="2000" dirty="0"/>
              <a:t>3. CATEGORY — </a:t>
            </a:r>
            <a:r>
              <a:rPr lang="en-US" sz="2000" dirty="0" err="1"/>
              <a:t>category_id</a:t>
            </a:r>
            <a:r>
              <a:rPr lang="en-US" sz="2000" dirty="0"/>
              <a:t>, </a:t>
            </a:r>
            <a:r>
              <a:rPr lang="en-US" sz="2000" dirty="0" err="1"/>
              <a:t>category_name</a:t>
            </a:r>
            <a:r>
              <a:rPr lang="en-US" sz="2000" dirty="0"/>
              <a:t>, description</a:t>
            </a:r>
          </a:p>
          <a:p>
            <a:pPr>
              <a:spcAft>
                <a:spcPts val="700"/>
              </a:spcAft>
              <a:defRPr sz="1400"/>
            </a:pPr>
            <a:r>
              <a:rPr lang="en-US" sz="2000" dirty="0"/>
              <a:t>4. ORDER — </a:t>
            </a:r>
            <a:r>
              <a:rPr lang="en-US" sz="2000" dirty="0" err="1"/>
              <a:t>order_id</a:t>
            </a:r>
            <a:r>
              <a:rPr lang="en-US" sz="2000" dirty="0"/>
              <a:t>, </a:t>
            </a:r>
            <a:r>
              <a:rPr lang="en-US" sz="2000" dirty="0" err="1"/>
              <a:t>order_date</a:t>
            </a:r>
            <a:r>
              <a:rPr lang="en-US" sz="2000" dirty="0"/>
              <a:t>, </a:t>
            </a:r>
            <a:r>
              <a:rPr lang="en-US" sz="2000" dirty="0" err="1"/>
              <a:t>total_amount</a:t>
            </a:r>
            <a:r>
              <a:rPr lang="en-US" sz="2000" dirty="0"/>
              <a:t>, status, </a:t>
            </a:r>
            <a:r>
              <a:rPr lang="en-US" sz="2000" dirty="0" err="1"/>
              <a:t>customer_id</a:t>
            </a:r>
            <a:endParaRPr 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179705" y="3584575"/>
            <a:ext cx="9635490" cy="247269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>
              <a:spcAft>
                <a:spcPts val="700"/>
              </a:spcAft>
              <a:defRPr sz="1400"/>
            </a:pPr>
            <a:r>
              <a:rPr lang="en-US" sz="2000" dirty="0"/>
              <a:t>5. ORDER_ITEM — </a:t>
            </a:r>
            <a:r>
              <a:rPr lang="en-US" sz="2000" dirty="0" err="1"/>
              <a:t>order_id</a:t>
            </a:r>
            <a:r>
              <a:rPr lang="en-US" sz="2000" dirty="0"/>
              <a:t>, </a:t>
            </a:r>
            <a:r>
              <a:rPr lang="en-US" sz="2000" dirty="0" err="1"/>
              <a:t>product_id</a:t>
            </a:r>
            <a:r>
              <a:rPr lang="en-US" sz="2000" dirty="0"/>
              <a:t>, quantity, </a:t>
            </a:r>
            <a:r>
              <a:rPr lang="en-US" sz="2000" dirty="0" err="1"/>
              <a:t>unit_price</a:t>
            </a:r>
            <a:endParaRPr lang="en-US" sz="2000" dirty="0"/>
          </a:p>
          <a:p>
            <a:pPr>
              <a:spcAft>
                <a:spcPts val="700"/>
              </a:spcAft>
              <a:defRPr sz="1400"/>
            </a:pPr>
            <a:r>
              <a:rPr lang="en-US" sz="2000" dirty="0"/>
              <a:t>6. PAYMENT — </a:t>
            </a:r>
            <a:r>
              <a:rPr lang="en-US" sz="2000" dirty="0" err="1"/>
              <a:t>payment_id</a:t>
            </a:r>
            <a:r>
              <a:rPr lang="en-US" sz="2000" dirty="0"/>
              <a:t>, </a:t>
            </a:r>
            <a:r>
              <a:rPr lang="en-US" sz="2000" dirty="0" err="1"/>
              <a:t>order_id</a:t>
            </a:r>
            <a:r>
              <a:rPr lang="en-US" sz="2000" dirty="0"/>
              <a:t>, </a:t>
            </a:r>
            <a:r>
              <a:rPr lang="en-US" sz="2000" dirty="0" err="1"/>
              <a:t>payment_mode</a:t>
            </a:r>
            <a:r>
              <a:rPr lang="en-US" sz="2000" dirty="0"/>
              <a:t>, amount, </a:t>
            </a:r>
            <a:r>
              <a:rPr lang="en-US" sz="2000" dirty="0" err="1"/>
              <a:t>pay_date</a:t>
            </a:r>
            <a:r>
              <a:rPr lang="en-US" sz="2000" dirty="0"/>
              <a:t>, status</a:t>
            </a:r>
          </a:p>
          <a:p>
            <a:pPr>
              <a:spcAft>
                <a:spcPts val="700"/>
              </a:spcAft>
              <a:defRPr sz="1400"/>
            </a:pPr>
            <a:r>
              <a:rPr lang="en-US" sz="2000" dirty="0"/>
              <a:t>7. SHIPPING — </a:t>
            </a:r>
            <a:r>
              <a:rPr lang="en-US" sz="2000" dirty="0" err="1"/>
              <a:t>shipping_id</a:t>
            </a:r>
            <a:r>
              <a:rPr lang="en-US" sz="2000" dirty="0"/>
              <a:t>, </a:t>
            </a:r>
            <a:r>
              <a:rPr lang="en-US" sz="2000" dirty="0" err="1"/>
              <a:t>order_id</a:t>
            </a:r>
            <a:r>
              <a:rPr lang="en-US" sz="2000" dirty="0"/>
              <a:t>, address, courier, </a:t>
            </a:r>
            <a:r>
              <a:rPr lang="en-US" sz="2000" dirty="0" err="1"/>
              <a:t>tracking_no</a:t>
            </a:r>
            <a:r>
              <a:rPr lang="en-US" sz="2000" dirty="0"/>
              <a:t>, </a:t>
            </a:r>
            <a:r>
              <a:rPr lang="en-US" sz="2000" dirty="0" err="1"/>
              <a:t>delivery_date</a:t>
            </a:r>
            <a:endParaRPr lang="en-US" sz="2000" dirty="0"/>
          </a:p>
          <a:p>
            <a:pPr>
              <a:spcAft>
                <a:spcPts val="700"/>
              </a:spcAft>
              <a:defRPr sz="1400"/>
            </a:pPr>
            <a:r>
              <a:rPr lang="en-US" sz="2000" dirty="0"/>
              <a:t>8. REVIEW — </a:t>
            </a:r>
            <a:r>
              <a:rPr lang="en-US" sz="2000" dirty="0" err="1"/>
              <a:t>review_id</a:t>
            </a:r>
            <a:r>
              <a:rPr lang="en-US" sz="2000" dirty="0"/>
              <a:t>, </a:t>
            </a:r>
            <a:r>
              <a:rPr lang="en-US" sz="2000" dirty="0" err="1"/>
              <a:t>customer_id</a:t>
            </a:r>
            <a:r>
              <a:rPr lang="en-US" sz="2000" dirty="0"/>
              <a:t>, </a:t>
            </a:r>
            <a:r>
              <a:rPr lang="en-US" sz="2000" dirty="0" err="1"/>
              <a:t>product_id</a:t>
            </a:r>
            <a:r>
              <a:rPr lang="en-US" sz="2000" dirty="0"/>
              <a:t>, rating, comment, </a:t>
            </a:r>
            <a:r>
              <a:rPr lang="en-US" sz="2000" dirty="0" err="1"/>
              <a:t>review_date</a:t>
            </a:r>
            <a:endParaRPr lang="en-US" sz="2000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41910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" y="961390"/>
            <a:ext cx="9820910" cy="663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2895600" y="304800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RELATIONAL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972" y="1034181"/>
            <a:ext cx="9608427" cy="6362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300"/>
            </a:pPr>
            <a:r>
              <a:rPr lang="en-IN" sz="2000" dirty="0"/>
              <a:t>CUSTOMER</a:t>
            </a:r>
          </a:p>
          <a:p>
            <a:pPr>
              <a:spcAft>
                <a:spcPts val="700"/>
              </a:spcAft>
              <a:defRPr sz="1300"/>
            </a:pPr>
            <a:r>
              <a:rPr lang="en-IN" sz="2000" dirty="0"/>
              <a:t>(</a:t>
            </a:r>
            <a:r>
              <a:rPr lang="en-IN" sz="2000" dirty="0" err="1"/>
              <a:t>customer_id</a:t>
            </a:r>
            <a:r>
              <a:rPr lang="en-IN" sz="2000" dirty="0"/>
              <a:t> PK, name, email, phone, password, address, </a:t>
            </a:r>
            <a:r>
              <a:rPr lang="en-IN" sz="2000" dirty="0" err="1"/>
              <a:t>city,pincode</a:t>
            </a:r>
            <a:r>
              <a:rPr lang="en-IN" sz="2000" dirty="0"/>
              <a:t>)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300"/>
            </a:pPr>
            <a:r>
              <a:rPr lang="en-IN" sz="2000" dirty="0"/>
              <a:t>CATEGORY</a:t>
            </a:r>
          </a:p>
          <a:p>
            <a:pPr>
              <a:spcAft>
                <a:spcPts val="700"/>
              </a:spcAft>
              <a:defRPr sz="1300"/>
            </a:pPr>
            <a:r>
              <a:rPr lang="en-IN" sz="2000" dirty="0"/>
              <a:t>(</a:t>
            </a:r>
            <a:r>
              <a:rPr lang="en-IN" sz="2000" dirty="0" err="1"/>
              <a:t>category_id</a:t>
            </a:r>
            <a:r>
              <a:rPr lang="en-IN" sz="2000" dirty="0"/>
              <a:t> PK, </a:t>
            </a:r>
            <a:r>
              <a:rPr lang="en-IN" sz="2000" dirty="0" err="1"/>
              <a:t>category_name</a:t>
            </a:r>
            <a:r>
              <a:rPr lang="en-IN" sz="2000" dirty="0"/>
              <a:t>, description)</a:t>
            </a:r>
          </a:p>
          <a:p>
            <a:pPr marL="457200" indent="-457200">
              <a:spcAft>
                <a:spcPts val="700"/>
              </a:spcAft>
              <a:buFont typeface="Arial" panose="020B0604020202020204" pitchFamily="34" charset="0"/>
              <a:buChar char="•"/>
              <a:defRPr sz="1300"/>
            </a:pPr>
            <a:r>
              <a:rPr lang="en-IN" sz="2000" dirty="0"/>
              <a:t>PRODUCT</a:t>
            </a:r>
          </a:p>
          <a:p>
            <a:pPr>
              <a:spcAft>
                <a:spcPts val="700"/>
              </a:spcAft>
              <a:defRPr sz="1300"/>
            </a:pPr>
            <a:r>
              <a:rPr lang="en-IN" sz="2000" dirty="0"/>
              <a:t>(</a:t>
            </a:r>
            <a:r>
              <a:rPr lang="en-IN" sz="2000" dirty="0" err="1"/>
              <a:t>product_id</a:t>
            </a:r>
            <a:r>
              <a:rPr lang="en-IN" sz="2000" dirty="0"/>
              <a:t> PK, name, description, price, </a:t>
            </a:r>
            <a:r>
              <a:rPr lang="en-IN" sz="2000" dirty="0" err="1"/>
              <a:t>stock_qty</a:t>
            </a:r>
            <a:r>
              <a:rPr lang="en-IN" sz="2000" dirty="0"/>
              <a:t>, </a:t>
            </a:r>
            <a:r>
              <a:rPr lang="en-IN" sz="2000" dirty="0" err="1"/>
              <a:t>category_id</a:t>
            </a:r>
            <a:r>
              <a:rPr lang="en-IN" sz="2000" dirty="0"/>
              <a:t> FK)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300"/>
            </a:pPr>
            <a:r>
              <a:rPr lang="en-IN" sz="2000" dirty="0"/>
              <a:t>ORDER</a:t>
            </a:r>
          </a:p>
          <a:p>
            <a:pPr>
              <a:spcAft>
                <a:spcPts val="700"/>
              </a:spcAft>
              <a:defRPr sz="1300"/>
            </a:pPr>
            <a:r>
              <a:rPr lang="en-IN" sz="2000" dirty="0"/>
              <a:t>(</a:t>
            </a:r>
            <a:r>
              <a:rPr lang="en-IN" sz="2000" dirty="0" err="1"/>
              <a:t>order_id</a:t>
            </a:r>
            <a:r>
              <a:rPr lang="en-IN" sz="2000" dirty="0"/>
              <a:t> PK, </a:t>
            </a:r>
            <a:r>
              <a:rPr lang="en-IN" sz="2000" dirty="0" err="1"/>
              <a:t>order_date</a:t>
            </a:r>
            <a:r>
              <a:rPr lang="en-IN" sz="2000" dirty="0"/>
              <a:t>, </a:t>
            </a:r>
            <a:r>
              <a:rPr lang="en-IN" sz="2000" dirty="0" err="1"/>
              <a:t>total_amount</a:t>
            </a:r>
            <a:r>
              <a:rPr lang="en-IN" sz="2000" dirty="0"/>
              <a:t>, status, </a:t>
            </a:r>
            <a:r>
              <a:rPr lang="en-IN" sz="2000" dirty="0" err="1"/>
              <a:t>customer_id</a:t>
            </a:r>
            <a:r>
              <a:rPr lang="en-IN" sz="2000" dirty="0"/>
              <a:t> FK)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300"/>
            </a:pPr>
            <a:r>
              <a:rPr lang="en-IN" sz="2000" dirty="0"/>
              <a:t>ORDER_ITEM</a:t>
            </a:r>
          </a:p>
          <a:p>
            <a:pPr>
              <a:spcAft>
                <a:spcPts val="700"/>
              </a:spcAft>
              <a:defRPr sz="1300"/>
            </a:pPr>
            <a:r>
              <a:rPr lang="en-IN" sz="2000" dirty="0"/>
              <a:t>(</a:t>
            </a:r>
            <a:r>
              <a:rPr lang="en-IN" sz="2000" dirty="0" err="1"/>
              <a:t>order_id</a:t>
            </a:r>
            <a:r>
              <a:rPr lang="en-IN" sz="2000" dirty="0"/>
              <a:t> PK/FK, </a:t>
            </a:r>
            <a:r>
              <a:rPr lang="en-IN" sz="2000" dirty="0" err="1"/>
              <a:t>product_id</a:t>
            </a:r>
            <a:r>
              <a:rPr lang="en-IN" sz="2000" dirty="0"/>
              <a:t> PK/FK, quantity, </a:t>
            </a:r>
            <a:r>
              <a:rPr lang="en-IN" sz="2000" dirty="0" err="1"/>
              <a:t>unit_price</a:t>
            </a:r>
            <a:r>
              <a:rPr lang="en-IN" sz="2000" dirty="0"/>
              <a:t>)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300"/>
            </a:pPr>
            <a:r>
              <a:rPr lang="en-IN" sz="2000" dirty="0"/>
              <a:t>PAYMENT</a:t>
            </a:r>
          </a:p>
          <a:p>
            <a:pPr>
              <a:spcAft>
                <a:spcPts val="700"/>
              </a:spcAft>
              <a:defRPr sz="1300"/>
            </a:pPr>
            <a:r>
              <a:rPr lang="en-IN" sz="2000" dirty="0"/>
              <a:t>(</a:t>
            </a:r>
            <a:r>
              <a:rPr lang="en-IN" sz="2000" dirty="0" err="1"/>
              <a:t>payment_id</a:t>
            </a:r>
            <a:r>
              <a:rPr lang="en-IN" sz="2000" dirty="0"/>
              <a:t> PK, </a:t>
            </a:r>
            <a:r>
              <a:rPr lang="en-IN" sz="2000" dirty="0" err="1"/>
              <a:t>order_id</a:t>
            </a:r>
            <a:r>
              <a:rPr lang="en-IN" sz="2000" dirty="0"/>
              <a:t> FK, </a:t>
            </a:r>
            <a:r>
              <a:rPr lang="en-IN" sz="2000" dirty="0" err="1"/>
              <a:t>payment_mode</a:t>
            </a:r>
            <a:r>
              <a:rPr lang="en-IN" sz="2000" dirty="0"/>
              <a:t>, amount, </a:t>
            </a:r>
            <a:r>
              <a:rPr lang="en-IN" sz="2000" dirty="0" err="1"/>
              <a:t>pay_date</a:t>
            </a:r>
            <a:r>
              <a:rPr lang="en-IN" sz="2000" dirty="0"/>
              <a:t>, status)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300"/>
            </a:pPr>
            <a:r>
              <a:rPr lang="en-IN" sz="2000" dirty="0"/>
              <a:t>SHIPPING</a:t>
            </a:r>
          </a:p>
          <a:p>
            <a:pPr>
              <a:spcAft>
                <a:spcPts val="700"/>
              </a:spcAft>
              <a:defRPr sz="1300"/>
            </a:pPr>
            <a:r>
              <a:rPr lang="en-IN" sz="2000" dirty="0"/>
              <a:t>(</a:t>
            </a:r>
            <a:r>
              <a:rPr lang="en-IN" sz="2000" dirty="0" err="1"/>
              <a:t>shipping_id</a:t>
            </a:r>
            <a:r>
              <a:rPr lang="en-IN" sz="2000" dirty="0"/>
              <a:t> PK, </a:t>
            </a:r>
            <a:r>
              <a:rPr lang="en-IN" sz="2000" dirty="0" err="1"/>
              <a:t>order_id</a:t>
            </a:r>
            <a:r>
              <a:rPr lang="en-IN" sz="2000" dirty="0"/>
              <a:t> FK, address, courier, </a:t>
            </a:r>
            <a:r>
              <a:rPr lang="en-IN" sz="2000" dirty="0" err="1"/>
              <a:t>tracking_no</a:t>
            </a:r>
            <a:r>
              <a:rPr lang="en-IN" sz="2000" dirty="0"/>
              <a:t>, </a:t>
            </a:r>
            <a:r>
              <a:rPr lang="en-IN" sz="2000" dirty="0" err="1"/>
              <a:t>delivery_date</a:t>
            </a:r>
            <a:r>
              <a:rPr lang="en-IN" sz="2000" dirty="0"/>
              <a:t>)</a:t>
            </a:r>
          </a:p>
          <a:p>
            <a:pPr marL="342900" indent="-342900">
              <a:spcAft>
                <a:spcPts val="700"/>
              </a:spcAft>
              <a:buFont typeface="Arial" panose="020B0604020202020204" pitchFamily="34" charset="0"/>
              <a:buChar char="•"/>
              <a:defRPr sz="1300"/>
            </a:pPr>
            <a:r>
              <a:rPr lang="en-IN" sz="2000" dirty="0"/>
              <a:t>REVIEW</a:t>
            </a:r>
          </a:p>
          <a:p>
            <a:pPr>
              <a:spcAft>
                <a:spcPts val="700"/>
              </a:spcAft>
              <a:defRPr sz="1300"/>
            </a:pPr>
            <a:r>
              <a:rPr lang="en-IN" sz="2000" dirty="0"/>
              <a:t>(</a:t>
            </a:r>
            <a:r>
              <a:rPr lang="en-IN" sz="2000" dirty="0" err="1"/>
              <a:t>review_id</a:t>
            </a:r>
            <a:r>
              <a:rPr lang="en-IN" sz="2000" dirty="0"/>
              <a:t> PK, </a:t>
            </a:r>
            <a:r>
              <a:rPr lang="en-IN" sz="2000" dirty="0" err="1"/>
              <a:t>customer_id</a:t>
            </a:r>
            <a:r>
              <a:rPr lang="en-IN" sz="2000" dirty="0"/>
              <a:t> FK, </a:t>
            </a:r>
            <a:r>
              <a:rPr lang="en-IN" sz="2000" dirty="0" err="1"/>
              <a:t>product_id</a:t>
            </a:r>
            <a:r>
              <a:rPr lang="en-IN" sz="2000" dirty="0"/>
              <a:t> FK, rating, comment, </a:t>
            </a:r>
            <a:r>
              <a:rPr lang="en-IN" sz="2000" dirty="0" err="1"/>
              <a:t>review_date</a:t>
            </a:r>
            <a:r>
              <a:rPr lang="en-IN" sz="2000" dirty="0"/>
              <a:t>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429000" y="321324"/>
            <a:ext cx="5029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sz="2000" dirty="0"/>
              <a:t> </a:t>
            </a:r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605" y="1017270"/>
            <a:ext cx="8250555" cy="701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IN" sz="2800" dirty="0">
                <a:latin typeface="+mj-ea"/>
                <a:cs typeface="+mj-ea"/>
              </a:rPr>
              <a:t>PRIMARY &amp; FOREIGN KEYS</a:t>
            </a:r>
          </a:p>
          <a:p>
            <a:endParaRPr lang="en-IN" sz="2800" dirty="0">
              <a:latin typeface="+mj-ea"/>
              <a:cs typeface="+mj-ea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93675" y="1707515"/>
            <a:ext cx="8248015" cy="24784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spcAft>
                <a:spcPts val="700"/>
              </a:spcAft>
              <a:buFont typeface="Wingdings" panose="05000000000000000000" charset="0"/>
              <a:buChar char="§"/>
              <a:defRPr sz="1400"/>
            </a:pPr>
            <a:r>
              <a:rPr lang="en-IN" sz="2400" dirty="0"/>
              <a:t>CUSTOMER</a:t>
            </a:r>
            <a:r>
              <a:rPr lang="en-IN" sz="2000" dirty="0"/>
              <a:t>: PK </a:t>
            </a:r>
            <a:r>
              <a:rPr lang="en-IN" sz="2000" dirty="0" err="1"/>
              <a:t>customer_id</a:t>
            </a:r>
            <a:endParaRPr lang="en-IN" sz="2000" dirty="0"/>
          </a:p>
          <a:p>
            <a:pPr marL="342900" indent="-342900">
              <a:spcAft>
                <a:spcPts val="700"/>
              </a:spcAft>
              <a:buFont typeface="Wingdings" panose="05000000000000000000" charset="0"/>
              <a:buChar char="§"/>
              <a:defRPr sz="1400"/>
            </a:pPr>
            <a:r>
              <a:rPr lang="en-IN" sz="2400" dirty="0"/>
              <a:t>CATEGORY</a:t>
            </a:r>
            <a:r>
              <a:rPr lang="en-IN" sz="2000" dirty="0"/>
              <a:t>: PK </a:t>
            </a:r>
            <a:r>
              <a:rPr lang="en-IN" sz="2000" dirty="0" err="1"/>
              <a:t>category_id</a:t>
            </a:r>
            <a:endParaRPr lang="en-IN" sz="2000" dirty="0"/>
          </a:p>
          <a:p>
            <a:pPr marL="342900" indent="-342900">
              <a:spcAft>
                <a:spcPts val="700"/>
              </a:spcAft>
              <a:buFont typeface="Wingdings" panose="05000000000000000000" charset="0"/>
              <a:buChar char="§"/>
              <a:defRPr sz="1400"/>
            </a:pPr>
            <a:r>
              <a:rPr lang="en-IN" sz="2400" dirty="0"/>
              <a:t>PRODUCT</a:t>
            </a:r>
            <a:r>
              <a:rPr lang="en-IN" sz="2000" dirty="0"/>
              <a:t>: PK </a:t>
            </a:r>
            <a:r>
              <a:rPr lang="en-IN" sz="2000" dirty="0" err="1"/>
              <a:t>product_id</a:t>
            </a:r>
            <a:r>
              <a:rPr lang="en-IN" sz="2000" dirty="0"/>
              <a:t>; FK </a:t>
            </a:r>
            <a:r>
              <a:rPr lang="en-IN" sz="2000" dirty="0" err="1"/>
              <a:t>category_id</a:t>
            </a:r>
            <a:r>
              <a:rPr lang="en-IN" sz="2000" dirty="0"/>
              <a:t> → CATEGORY</a:t>
            </a:r>
          </a:p>
          <a:p>
            <a:pPr marL="342900" indent="-342900">
              <a:spcAft>
                <a:spcPts val="700"/>
              </a:spcAft>
              <a:buFont typeface="Wingdings" panose="05000000000000000000" charset="0"/>
              <a:buChar char="§"/>
              <a:defRPr sz="1400"/>
            </a:pPr>
            <a:r>
              <a:rPr lang="en-IN" sz="2400" dirty="0"/>
              <a:t>ORDER</a:t>
            </a:r>
            <a:r>
              <a:rPr lang="en-IN" sz="2000" dirty="0"/>
              <a:t>: PK </a:t>
            </a:r>
            <a:r>
              <a:rPr lang="en-IN" sz="2000" dirty="0" err="1"/>
              <a:t>order_id</a:t>
            </a:r>
            <a:r>
              <a:rPr lang="en-IN" sz="2000" dirty="0"/>
              <a:t>; FK </a:t>
            </a:r>
            <a:r>
              <a:rPr lang="en-IN" sz="2000" dirty="0" err="1"/>
              <a:t>customer_id</a:t>
            </a:r>
            <a:r>
              <a:rPr lang="en-IN" sz="2000" dirty="0"/>
              <a:t> → CUSTOMER</a:t>
            </a:r>
          </a:p>
          <a:p>
            <a:pPr marL="342900" indent="-342900">
              <a:spcAft>
                <a:spcPts val="700"/>
              </a:spcAft>
              <a:buFont typeface="Wingdings" panose="05000000000000000000" charset="0"/>
              <a:buChar char="§"/>
              <a:defRPr sz="1400"/>
            </a:pPr>
            <a:r>
              <a:rPr lang="en-IN" sz="2400" dirty="0"/>
              <a:t>ORDER_ITEM</a:t>
            </a:r>
            <a:r>
              <a:rPr lang="en-IN" sz="2000" dirty="0"/>
              <a:t>: composite PK (</a:t>
            </a:r>
            <a:r>
              <a:rPr lang="en-IN" sz="2000" dirty="0" err="1"/>
              <a:t>order_id</a:t>
            </a:r>
            <a:r>
              <a:rPr lang="en-IN" sz="2000" dirty="0"/>
              <a:t>, </a:t>
            </a:r>
            <a:r>
              <a:rPr lang="en-IN" sz="2000" dirty="0" err="1"/>
              <a:t>product_id</a:t>
            </a:r>
            <a:r>
              <a:rPr lang="en-IN" sz="2000" dirty="0"/>
              <a:t>); both are </a:t>
            </a:r>
            <a:r>
              <a:rPr lang="en-US" altLang="en-IN" sz="2000" dirty="0"/>
              <a:t>                                                                                                                                                                                          FKs</a:t>
            </a:r>
            <a:endParaRPr lang="en-IN" sz="2000" dirty="0"/>
          </a:p>
          <a:p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193675" y="4357370"/>
            <a:ext cx="9609455" cy="188595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marL="342900" indent="-342900">
              <a:spcAft>
                <a:spcPts val="700"/>
              </a:spcAft>
              <a:buFont typeface="Wingdings" panose="05000000000000000000" charset="0"/>
              <a:buChar char="§"/>
              <a:defRPr sz="1400"/>
            </a:pPr>
            <a:r>
              <a:rPr lang="en-IN" sz="2400" dirty="0"/>
              <a:t>PAYMENT</a:t>
            </a:r>
            <a:r>
              <a:rPr lang="en-IN" sz="2000" dirty="0"/>
              <a:t>: PK </a:t>
            </a:r>
            <a:r>
              <a:rPr lang="en-IN" sz="2000" dirty="0" err="1"/>
              <a:t>payment_id</a:t>
            </a:r>
            <a:r>
              <a:rPr lang="en-IN" sz="2000" dirty="0"/>
              <a:t>; FK </a:t>
            </a:r>
            <a:r>
              <a:rPr lang="en-IN" sz="2000" dirty="0" err="1"/>
              <a:t>order_id</a:t>
            </a:r>
            <a:r>
              <a:rPr lang="en-IN" sz="2000" dirty="0"/>
              <a:t> → ORDER</a:t>
            </a:r>
          </a:p>
          <a:p>
            <a:pPr marL="342900" indent="-342900">
              <a:spcAft>
                <a:spcPts val="700"/>
              </a:spcAft>
              <a:buFont typeface="Wingdings" panose="05000000000000000000" charset="0"/>
              <a:buChar char="§"/>
              <a:defRPr sz="1400"/>
            </a:pPr>
            <a:r>
              <a:rPr lang="en-IN" sz="2400" dirty="0"/>
              <a:t>SHIPPING</a:t>
            </a:r>
            <a:r>
              <a:rPr lang="en-IN" sz="2000" dirty="0"/>
              <a:t>: PK </a:t>
            </a:r>
            <a:r>
              <a:rPr lang="en-IN" sz="2000" dirty="0" err="1"/>
              <a:t>shipping_id</a:t>
            </a:r>
            <a:r>
              <a:rPr lang="en-IN" sz="2000" dirty="0"/>
              <a:t>; FK </a:t>
            </a:r>
            <a:r>
              <a:rPr lang="en-IN" sz="2000" dirty="0" err="1"/>
              <a:t>order_id</a:t>
            </a:r>
            <a:r>
              <a:rPr lang="en-IN" sz="2000" dirty="0"/>
              <a:t> → ORDER</a:t>
            </a:r>
          </a:p>
          <a:p>
            <a:pPr marL="342900" indent="-342900">
              <a:spcAft>
                <a:spcPts val="700"/>
              </a:spcAft>
              <a:buFont typeface="Wingdings" panose="05000000000000000000" charset="0"/>
              <a:buChar char="§"/>
              <a:defRPr sz="1400"/>
            </a:pPr>
            <a:r>
              <a:rPr lang="en-IN" sz="2400" dirty="0"/>
              <a:t>REVIEW</a:t>
            </a:r>
            <a:r>
              <a:rPr lang="en-IN" sz="2000" dirty="0"/>
              <a:t>: PK </a:t>
            </a:r>
            <a:r>
              <a:rPr lang="en-IN" sz="2000" dirty="0" err="1"/>
              <a:t>review_id</a:t>
            </a:r>
            <a:r>
              <a:rPr lang="en-IN" sz="2000" dirty="0"/>
              <a:t>; FKs </a:t>
            </a:r>
            <a:r>
              <a:rPr lang="en-IN" sz="2000" dirty="0" err="1"/>
              <a:t>customer_id</a:t>
            </a:r>
            <a:r>
              <a:rPr lang="en-IN" sz="2000" dirty="0"/>
              <a:t> →</a:t>
            </a:r>
            <a:r>
              <a:rPr lang="en-IN" sz="1800" dirty="0"/>
              <a:t> CUSTOMER</a:t>
            </a:r>
            <a:r>
              <a:rPr lang="en-IN" sz="2000" dirty="0"/>
              <a:t>, </a:t>
            </a:r>
            <a:r>
              <a:rPr lang="en-IN" sz="2000" dirty="0" err="1"/>
              <a:t>product_id</a:t>
            </a:r>
            <a:r>
              <a:rPr lang="en-IN" sz="2000" dirty="0"/>
              <a:t> → </a:t>
            </a:r>
            <a:r>
              <a:rPr lang="en-IN" sz="1800" dirty="0"/>
              <a:t>PRODUCT</a:t>
            </a:r>
            <a:endParaRPr lang="en-IN" sz="2000" dirty="0"/>
          </a:p>
          <a:p>
            <a:pPr marL="342900" indent="-342900">
              <a:spcAft>
                <a:spcPts val="700"/>
              </a:spcAft>
              <a:buFont typeface="Wingdings" panose="05000000000000000000" charset="0"/>
              <a:buChar char="§"/>
              <a:defRPr sz="1400"/>
            </a:pPr>
            <a:r>
              <a:rPr lang="en-IN" sz="2400" dirty="0"/>
              <a:t>Candidate keys documented</a:t>
            </a:r>
            <a:r>
              <a:rPr lang="en-IN" sz="2000" dirty="0"/>
              <a:t>: </a:t>
            </a:r>
            <a:r>
              <a:rPr lang="en-IN" sz="2000" dirty="0" err="1"/>
              <a:t>CUSTOMER.email</a:t>
            </a:r>
            <a:r>
              <a:rPr lang="en-IN" sz="2000" dirty="0"/>
              <a:t>; </a:t>
            </a:r>
            <a:r>
              <a:rPr lang="en-IN" sz="2000" dirty="0" err="1"/>
              <a:t>PRODUCT.sku</a:t>
            </a:r>
            <a:endParaRPr lang="en-IN" sz="2000" dirty="0"/>
          </a:p>
          <a:p>
            <a:pPr marL="342900" indent="-342900">
              <a:spcAft>
                <a:spcPts val="700"/>
              </a:spcAft>
              <a:buFont typeface="Wingdings" panose="05000000000000000000" charset="0"/>
              <a:buChar char="§"/>
              <a:defRPr sz="1400"/>
            </a:pPr>
            <a:r>
              <a:rPr lang="en-IN" sz="2400" dirty="0"/>
              <a:t>Schema target</a:t>
            </a:r>
            <a:r>
              <a:rPr lang="en-IN" sz="2000" dirty="0"/>
              <a:t>: 3NF with referential integrity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REPOSITORY &amp; 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785364"/>
            <a:ext cx="99822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charset="0"/>
              <a:buChar char="v"/>
            </a:pPr>
            <a:r>
              <a:rPr lang="en-US" sz="2800" dirty="0">
                <a:hlinkClick r:id="rId6"/>
              </a:rPr>
              <a:t>Repository:-</a:t>
            </a:r>
            <a:r>
              <a:rPr lang="en-US" dirty="0">
                <a:hlinkClick r:id="rId6"/>
              </a:rPr>
              <a:t>https://github.com/panganikilsaikumarreddy2507-sketch</a:t>
            </a:r>
            <a:r>
              <a:rPr lang="en-US">
                <a:hlinkClick r:id="rId6"/>
              </a:rPr>
              <a:t>/onlineshopping-system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717" y="1063846"/>
            <a:ext cx="47307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 sz="1900" b="1"/>
            </a:pPr>
            <a:r>
              <a:rPr lang="en-IN" sz="2400" dirty="0"/>
              <a:t>GITHUB REPOSITORY &amp;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3008630"/>
            <a:ext cx="9296400" cy="35629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sz="2000"/>
              <a:t>Panga Nikil Sai Kumar (25B11AI895)</a:t>
            </a:r>
            <a:r>
              <a:rPr lang="en-US" altLang="en-US" sz="2000"/>
              <a:t>  </a:t>
            </a:r>
            <a:r>
              <a:rPr lang="en-US" altLang="en-US" sz="1800"/>
              <a:t>      </a:t>
            </a:r>
            <a:r>
              <a:rPr sz="1800"/>
              <a:t> </a:t>
            </a:r>
            <a:r>
              <a:rPr lang="en-US" altLang="en-US" sz="1800"/>
              <a:t>          </a:t>
            </a:r>
            <a:r>
              <a:rPr sz="1800"/>
              <a:t>— </a:t>
            </a:r>
            <a:r>
              <a:rPr sz="2000"/>
              <a:t>Database design / SQL </a:t>
            </a:r>
          </a:p>
          <a:p>
            <a:r>
              <a:rPr sz="2000"/>
              <a:t> </a:t>
            </a:r>
            <a:r>
              <a:rPr lang="en-US" altLang="en-US" sz="2000"/>
              <a:t>                                                                                            </a:t>
            </a:r>
            <a:r>
              <a:rPr sz="2000">
                <a:sym typeface="+mn-ea"/>
              </a:rPr>
              <a:t>integrati</a:t>
            </a:r>
            <a:r>
              <a:rPr lang="en-US" altLang="en-US" sz="2000">
                <a:sym typeface="+mn-ea"/>
              </a:rPr>
              <a:t>o</a:t>
            </a:r>
            <a:r>
              <a:rPr sz="2000">
                <a:sym typeface="+mn-ea"/>
              </a:rPr>
              <a:t>n</a:t>
            </a:r>
            <a:endParaRPr sz="2000"/>
          </a:p>
          <a:p>
            <a:endParaRPr sz="1800"/>
          </a:p>
          <a:p>
            <a:r>
              <a:rPr sz="2000"/>
              <a:t>Pitta Srilekha Thara (25B11AI966)</a:t>
            </a:r>
            <a:r>
              <a:rPr sz="1800"/>
              <a:t> </a:t>
            </a:r>
            <a:r>
              <a:rPr lang="en-US" altLang="en-US" sz="1800"/>
              <a:t>                       </a:t>
            </a:r>
            <a:r>
              <a:rPr sz="1800"/>
              <a:t>— </a:t>
            </a:r>
            <a:r>
              <a:rPr sz="2000"/>
              <a:t>ER model / schema </a:t>
            </a:r>
            <a:r>
              <a:rPr lang="en-US" altLang="en-US" sz="2000"/>
              <a:t>      </a:t>
            </a:r>
          </a:p>
          <a:p>
            <a:r>
              <a:rPr lang="en-US" altLang="en-US" sz="2000"/>
              <a:t>                                                                                          </a:t>
            </a:r>
            <a:r>
              <a:rPr sz="2000">
                <a:sym typeface="+mn-ea"/>
              </a:rPr>
              <a:t>documen</a:t>
            </a:r>
            <a:r>
              <a:rPr lang="en-US" altLang="en-US" sz="2000">
                <a:sym typeface="+mn-ea"/>
              </a:rPr>
              <a:t>tation</a:t>
            </a:r>
            <a:endParaRPr lang="en-US" altLang="en-US" sz="2000"/>
          </a:p>
          <a:p>
            <a:endParaRPr sz="1800"/>
          </a:p>
          <a:p>
            <a:r>
              <a:rPr sz="2000"/>
              <a:t>Anusuri Shanmuka Priya Lakshmi (25B11AI056)</a:t>
            </a:r>
            <a:r>
              <a:rPr lang="en-US" altLang="en-US" sz="1800"/>
              <a:t> </a:t>
            </a:r>
            <a:r>
              <a:rPr sz="1800"/>
              <a:t> — </a:t>
            </a:r>
            <a:r>
              <a:rPr sz="2000"/>
              <a:t>Queries / testing</a:t>
            </a:r>
          </a:p>
          <a:p>
            <a:endParaRPr sz="2000"/>
          </a:p>
          <a:p>
            <a:r>
              <a:rPr sz="2000"/>
              <a:t>Pedireddy Surya Prakesh (25B11AI929)</a:t>
            </a:r>
            <a:r>
              <a:rPr lang="en-US" altLang="en-US" sz="2000"/>
              <a:t>            </a:t>
            </a:r>
            <a:r>
              <a:rPr sz="1800"/>
              <a:t>— </a:t>
            </a:r>
            <a:r>
              <a:rPr sz="2000"/>
              <a:t>Documentation / presentation</a:t>
            </a:r>
          </a:p>
          <a:p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&amp; CONSTRAINTS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6288" y="1267333"/>
            <a:ext cx="8915400" cy="4114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72D46"/>
                </a:solidFill>
                <a:latin typeface="Aptos Display"/>
              </a:rPr>
              <a:t>8 tables enforce reliable transactions through keys and constraints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965960"/>
            <a:ext cx="1819656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F15D0F"/>
                </a:solidFill>
                <a:latin typeface="Aptos Display"/>
              </a:rPr>
              <a:t>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414016"/>
            <a:ext cx="1819656" cy="2876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D46"/>
                </a:solidFill>
                <a:latin typeface="Aptos"/>
              </a:rPr>
              <a:t>RELATIONS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98064" y="1965960"/>
            <a:ext cx="1819656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F15D0F"/>
                </a:solidFill>
                <a:latin typeface="Aptos Display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98064" y="2414016"/>
            <a:ext cx="1819656" cy="2876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D46"/>
                </a:solidFill>
                <a:latin typeface="Aptos"/>
              </a:rPr>
              <a:t>FOREIGN KEYS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56048" y="1965960"/>
            <a:ext cx="1819656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F15D0F"/>
                </a:solidFill>
                <a:latin typeface="Aptos Display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56048" y="2414016"/>
            <a:ext cx="1819656" cy="2876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D46"/>
                </a:solidFill>
                <a:latin typeface="Aptos"/>
              </a:rPr>
              <a:t>UNIQUE FIELDS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4032" y="1965960"/>
            <a:ext cx="1819656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F15D0F"/>
                </a:solidFill>
                <a:latin typeface="Aptos Display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14032" y="2414016"/>
            <a:ext cx="1819656" cy="2876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D46"/>
                </a:solidFill>
                <a:latin typeface="Aptos"/>
              </a:rPr>
              <a:t>COMPOSITE KEY</a:t>
            </a:r>
            <a:r>
              <a:rPr lang="en-US" altLang="en-US" sz="1400" b="1">
                <a:solidFill>
                  <a:srgbClr val="172D46"/>
                </a:solidFill>
                <a:latin typeface="Aptos"/>
              </a:rPr>
              <a:t>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3090672"/>
            <a:ext cx="2441448" cy="3797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72D46"/>
                </a:solidFill>
                <a:latin typeface="Aptos Display"/>
              </a:rPr>
              <a:t>Entity identity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8096" y="3493008"/>
            <a:ext cx="2441448" cy="17341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5C6976"/>
                </a:solidFill>
                <a:latin typeface="Aptos"/>
              </a:rPr>
              <a:t>AUTO_INCREMENT primary keys identify Category, Customer, Product, Orders, Payment, Shipping and Review.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40480" y="3090672"/>
            <a:ext cx="2441448" cy="3797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72D46"/>
                </a:solidFill>
                <a:latin typeface="Aptos Display"/>
              </a:rPr>
              <a:t>Relationship </a:t>
            </a:r>
            <a:r>
              <a:rPr sz="1700" b="1">
                <a:solidFill>
                  <a:srgbClr val="172D46"/>
                </a:solidFill>
                <a:latin typeface="Aptos Display"/>
              </a:rPr>
              <a:t>integrity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3493008"/>
            <a:ext cx="2441448" cy="145732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5C6976"/>
                </a:solidFill>
                <a:latin typeface="Aptos"/>
              </a:rPr>
              <a:t>Foreign keys connect products to categories, orders to customers, and transaction details to orders and products.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12864" y="3090672"/>
            <a:ext cx="2441448" cy="3797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172D46"/>
                </a:solidFill>
                <a:latin typeface="Aptos Display"/>
              </a:rPr>
              <a:t>Business </a:t>
            </a:r>
            <a:r>
              <a:rPr sz="1700" b="1">
                <a:solidFill>
                  <a:srgbClr val="172D46"/>
                </a:solidFill>
                <a:latin typeface="Aptos Display"/>
              </a:rPr>
              <a:t>uniqueness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12864" y="3493008"/>
            <a:ext cx="2441448" cy="17341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5C6976"/>
                </a:solidFill>
                <a:latin typeface="Aptos"/>
              </a:rPr>
              <a:t>Email, phone, SKU, tracking number and one payment/shipping row per order are protected by UNIQUE constraints.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8096" y="5358383"/>
            <a:ext cx="8531352" cy="44132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400" b="1">
                <a:solidFill>
                  <a:srgbClr val="FFB37B"/>
                </a:solidFill>
                <a:latin typeface="Aptos Display"/>
              </a:rPr>
              <a:t>Representative constraint pattern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825" y="5975985"/>
            <a:ext cx="9298940" cy="5562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400" b="0" dirty="0">
                <a:solidFill>
                  <a:schemeClr val="tx1"/>
                </a:solidFill>
                <a:latin typeface="Consolas" panose="020B0609020204030204"/>
              </a:rPr>
              <a:t>PRIMARY KEY (</a:t>
            </a:r>
            <a:r>
              <a:rPr sz="1400" b="0" dirty="0" err="1">
                <a:solidFill>
                  <a:schemeClr val="tx1"/>
                </a:solidFill>
                <a:latin typeface="Consolas" panose="020B0609020204030204"/>
              </a:rPr>
              <a:t>order_id</a:t>
            </a:r>
            <a:r>
              <a:rPr sz="1400" b="0" dirty="0">
                <a:solidFill>
                  <a:schemeClr val="tx1"/>
                </a:solidFill>
                <a:latin typeface="Consolas" panose="020B0609020204030204"/>
              </a:rPr>
              <a:t>, </a:t>
            </a:r>
            <a:r>
              <a:rPr sz="1400" b="0" dirty="0" err="1">
                <a:solidFill>
                  <a:schemeClr val="tx1"/>
                </a:solidFill>
                <a:latin typeface="Consolas" panose="020B0609020204030204"/>
              </a:rPr>
              <a:t>product_id</a:t>
            </a:r>
            <a:r>
              <a:rPr sz="1400" b="0" dirty="0">
                <a:solidFill>
                  <a:schemeClr val="tx1"/>
                </a:solidFill>
                <a:latin typeface="Consolas" panose="020B0609020204030204"/>
              </a:rPr>
              <a:t>)   |   FOREIGN KEY (</a:t>
            </a:r>
            <a:r>
              <a:rPr sz="1400" b="0" dirty="0" err="1">
                <a:solidFill>
                  <a:schemeClr val="tx1"/>
                </a:solidFill>
                <a:latin typeface="Consolas" panose="020B0609020204030204"/>
              </a:rPr>
              <a:t>order_id</a:t>
            </a:r>
            <a:r>
              <a:rPr sz="1400" b="0" dirty="0">
                <a:solidFill>
                  <a:schemeClr val="tx1"/>
                </a:solidFill>
                <a:latin typeface="Consolas" panose="020B0609020204030204"/>
              </a:rPr>
              <a:t>) REFERENCES orders(</a:t>
            </a:r>
            <a:r>
              <a:rPr sz="1400" b="0" dirty="0" err="1">
                <a:solidFill>
                  <a:schemeClr val="tx1"/>
                </a:solidFill>
                <a:latin typeface="Consolas" panose="020B0609020204030204"/>
              </a:rPr>
              <a:t>order_id</a:t>
            </a:r>
            <a:r>
              <a:rPr sz="1400" b="0" dirty="0">
                <a:solidFill>
                  <a:schemeClr val="tx1"/>
                </a:solidFill>
                <a:latin typeface="Consolas" panose="020B0609020204030204"/>
              </a:rPr>
              <a:t>)   |   UNIQUE (</a:t>
            </a:r>
            <a:r>
              <a:rPr sz="1400" b="0" dirty="0" err="1">
                <a:solidFill>
                  <a:schemeClr val="tx1"/>
                </a:solidFill>
                <a:latin typeface="Consolas" panose="020B0609020204030204"/>
              </a:rPr>
              <a:t>sku</a:t>
            </a:r>
            <a:r>
              <a:rPr sz="1400" b="0" dirty="0">
                <a:solidFill>
                  <a:schemeClr val="tx1"/>
                </a:solidFill>
                <a:latin typeface="Consolas" panose="020B0609020204030204"/>
              </a:rPr>
              <a:t>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SAMPLE DATA INSERTION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6755" y="1066800"/>
            <a:ext cx="8952230" cy="6769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2800" b="1">
                <a:solidFill>
                  <a:srgbClr val="172D46"/>
                </a:solidFill>
                <a:latin typeface="Aptos Display"/>
              </a:rPr>
              <a:t>Seed data creates a realistic end-to-end shopping</a:t>
            </a:r>
            <a:r>
              <a:rPr lang="en-US" altLang="en-US" sz="2800" b="1">
                <a:solidFill>
                  <a:srgbClr val="172D46"/>
                </a:solidFill>
                <a:latin typeface="Aptos Display"/>
              </a:rPr>
              <a:t> </a:t>
            </a:r>
            <a:r>
              <a:rPr sz="2800" b="1">
                <a:solidFill>
                  <a:srgbClr val="172D46"/>
                </a:solidFill>
                <a:latin typeface="Aptos Display"/>
              </a:rPr>
              <a:t>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1929384"/>
            <a:ext cx="1271016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F15D0F"/>
                </a:solidFill>
                <a:latin typeface="Aptos Display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2377440"/>
            <a:ext cx="1271016" cy="2876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D46"/>
                </a:solidFill>
                <a:latin typeface="Aptos"/>
              </a:rPr>
              <a:t>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67712" y="1929384"/>
            <a:ext cx="1271016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F15D0F"/>
                </a:solidFill>
                <a:latin typeface="Aptos Display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67712" y="2377440"/>
            <a:ext cx="1271016" cy="2876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D46"/>
                </a:solidFill>
                <a:latin typeface="Aptos"/>
              </a:rPr>
              <a:t>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95344" y="1929384"/>
            <a:ext cx="1271016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F15D0F"/>
                </a:solidFill>
                <a:latin typeface="Aptos Display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95344" y="2377440"/>
            <a:ext cx="1271016" cy="2876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D46"/>
                </a:solidFill>
                <a:latin typeface="Aptos"/>
              </a:rPr>
              <a:t>PRODUCTS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22976" y="1929384"/>
            <a:ext cx="1271016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F15D0F"/>
                </a:solidFill>
                <a:latin typeface="Aptos Display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22976" y="2377440"/>
            <a:ext cx="1271016" cy="2876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D46"/>
                </a:solidFill>
                <a:latin typeface="Aptos"/>
              </a:rPr>
              <a:t>ORDERS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50608" y="1929384"/>
            <a:ext cx="1271016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F15D0F"/>
                </a:solidFill>
                <a:latin typeface="Aptos Display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50608" y="2377440"/>
            <a:ext cx="1271016" cy="2876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400" b="1">
                <a:solidFill>
                  <a:srgbClr val="172D46"/>
                </a:solidFill>
                <a:latin typeface="Aptos"/>
              </a:rPr>
              <a:t>REVIEWS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67055" y="2853690"/>
          <a:ext cx="8933815" cy="2449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3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17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54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8305">
                <a:tc>
                  <a:txBody>
                    <a:bodyPr/>
                    <a:lstStyle/>
                    <a:p>
                      <a:pPr algn="ctr"/>
                      <a:r>
                        <a:rPr sz="1800" b="1" dirty="0">
                          <a:solidFill>
                            <a:srgbClr val="FFFFFF"/>
                          </a:solidFill>
                          <a:latin typeface="Aptos"/>
                        </a:rPr>
                        <a:t>Order</a:t>
                      </a:r>
                    </a:p>
                  </a:txBody>
                  <a:tcPr marL="54864" marR="54864" marT="27432" marB="27432">
                    <a:solidFill>
                      <a:srgbClr val="172D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Customer</a:t>
                      </a:r>
                    </a:p>
                  </a:txBody>
                  <a:tcPr marL="54864" marR="54864" marT="27432" marB="27432">
                    <a:solidFill>
                      <a:srgbClr val="172D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Date</a:t>
                      </a:r>
                    </a:p>
                  </a:txBody>
                  <a:tcPr marL="54864" marR="54864" marT="27432" marB="27432">
                    <a:solidFill>
                      <a:srgbClr val="172D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Amount</a:t>
                      </a:r>
                    </a:p>
                  </a:txBody>
                  <a:tcPr marL="54864" marR="54864" marT="27432" marB="27432">
                    <a:solidFill>
                      <a:srgbClr val="172D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54864" marR="54864" marT="27432" marB="27432">
                    <a:solidFill>
                      <a:srgbClr val="172D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#1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Rahul Kumar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20 Sep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Rs. 2,098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Delivered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#2</a:t>
                      </a:r>
                    </a:p>
                  </a:txBody>
                  <a:tcPr marL="54864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Priya Sharma</a:t>
                      </a:r>
                    </a:p>
                  </a:txBody>
                  <a:tcPr marL="54864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21 Sep 2026</a:t>
                      </a:r>
                    </a:p>
                  </a:txBody>
                  <a:tcPr marL="54864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Rs. 2,499</a:t>
                      </a:r>
                    </a:p>
                  </a:txBody>
                  <a:tcPr marL="54864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Shipped</a:t>
                      </a:r>
                    </a:p>
                  </a:txBody>
                  <a:tcPr marL="54864" marR="54864" marT="27432" marB="27432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#3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Arjun Reddy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22 Sep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Rs. 1,298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Pending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#4</a:t>
                      </a:r>
                    </a:p>
                  </a:txBody>
                  <a:tcPr marL="54864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Sneha Rao</a:t>
                      </a:r>
                    </a:p>
                  </a:txBody>
                  <a:tcPr marL="54864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23 Sep 2026</a:t>
                      </a:r>
                    </a:p>
                  </a:txBody>
                  <a:tcPr marL="54864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Rs. 1,998</a:t>
                      </a:r>
                    </a:p>
                  </a:txBody>
                  <a:tcPr marL="54864" marR="54864" marT="27432" marB="27432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Delivered</a:t>
                      </a:r>
                    </a:p>
                  </a:txBody>
                  <a:tcPr marL="54864" marR="54864" marT="27432" marB="27432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305">
                <a:tc>
                  <a:txBody>
                    <a:bodyPr/>
                    <a:lstStyle/>
                    <a:p>
                      <a:pPr algn="ctr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#5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Kiran Kumar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24 Sep 2026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>
                          <a:solidFill>
                            <a:srgbClr val="191D21"/>
                          </a:solidFill>
                          <a:latin typeface="Aptos"/>
                        </a:rPr>
                        <a:t>Rs. 799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dirty="0">
                          <a:solidFill>
                            <a:srgbClr val="191D21"/>
                          </a:solidFill>
                          <a:latin typeface="Aptos"/>
                        </a:rPr>
                        <a:t>Processing</a:t>
                      </a: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566928" y="5504688"/>
            <a:ext cx="8933688" cy="3181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chemeClr val="tx1"/>
                </a:solidFill>
                <a:latin typeface="Aptos"/>
              </a:rPr>
              <a:t>Coverage: catalog, customers, order lines, payment, shipping and review records are all populated.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DDL, DML &amp; DQL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50" y="2286000"/>
            <a:ext cx="3584529" cy="281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rPr lang="en-US" sz="2800" dirty="0">
                <a:latin typeface="Microsoft YaHei" panose="020B0503020204020204" charset="-122"/>
                <a:ea typeface="Microsoft YaHei" panose="020B0503020204020204" charset="-122"/>
                <a:cs typeface="AcadEref" panose="02000500000000020003" charset="0"/>
              </a:rPr>
              <a:t>DDL</a:t>
            </a:r>
          </a:p>
          <a:p>
            <a:pPr>
              <a:spcAft>
                <a:spcPts val="700"/>
              </a:spcAft>
              <a:defRPr sz="1400"/>
            </a:pPr>
            <a:r>
              <a:rPr lang="en-US" sz="2400" dirty="0"/>
              <a:t>CREATE DATABASE</a:t>
            </a:r>
          </a:p>
          <a:p>
            <a:pPr>
              <a:spcAft>
                <a:spcPts val="700"/>
              </a:spcAft>
              <a:defRPr sz="1400"/>
            </a:pPr>
            <a:r>
              <a:rPr lang="en-US" sz="2400" dirty="0"/>
              <a:t>CREATE TABLE</a:t>
            </a:r>
          </a:p>
          <a:p>
            <a:pPr>
              <a:spcAft>
                <a:spcPts val="700"/>
              </a:spcAft>
              <a:defRPr sz="1400"/>
            </a:pPr>
            <a:r>
              <a:rPr lang="en-US" sz="2400" dirty="0"/>
              <a:t>ALTER TABLE</a:t>
            </a:r>
          </a:p>
          <a:p>
            <a:pPr>
              <a:spcAft>
                <a:spcPts val="700"/>
              </a:spcAft>
              <a:defRPr sz="1400"/>
            </a:pPr>
            <a:r>
              <a:rPr lang="en-US" sz="2400" dirty="0"/>
              <a:t>ADD constraints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0" y="2276061"/>
            <a:ext cx="3131820" cy="27254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rPr lang="en-US" sz="2800" dirty="0">
                <a:latin typeface="Microsoft YaHei" panose="020B0503020204020204" charset="-122"/>
                <a:ea typeface="Microsoft YaHei" panose="020B0503020204020204" charset="-122"/>
              </a:rPr>
              <a:t>DML</a:t>
            </a:r>
          </a:p>
          <a:p>
            <a:pPr>
              <a:spcAft>
                <a:spcPts val="700"/>
              </a:spcAft>
              <a:defRPr sz="1400"/>
            </a:pPr>
            <a:r>
              <a:rPr lang="en-US" sz="2400" dirty="0"/>
              <a:t>INSERT records</a:t>
            </a:r>
          </a:p>
          <a:p>
            <a:pPr>
              <a:spcAft>
                <a:spcPts val="700"/>
              </a:spcAft>
              <a:defRPr sz="1400"/>
            </a:pPr>
            <a:r>
              <a:rPr lang="en-US" sz="2400" dirty="0"/>
              <a:t>UPDATE records</a:t>
            </a:r>
          </a:p>
          <a:p>
            <a:pPr>
              <a:spcAft>
                <a:spcPts val="700"/>
              </a:spcAft>
              <a:defRPr sz="1400"/>
            </a:pPr>
            <a:r>
              <a:rPr lang="en-US" sz="2400" dirty="0"/>
              <a:t>DELETE records</a:t>
            </a:r>
          </a:p>
          <a:p>
            <a:pPr>
              <a:spcAft>
                <a:spcPts val="700"/>
              </a:spcAft>
              <a:defRPr sz="1400"/>
            </a:pPr>
            <a:r>
              <a:rPr lang="en-US" sz="2400" dirty="0"/>
              <a:t>Maintain relationships</a:t>
            </a:r>
          </a:p>
          <a:p>
            <a:endParaRPr lang="en-IN" dirty="0"/>
          </a:p>
        </p:txBody>
      </p:sp>
      <p:sp>
        <p:nvSpPr>
          <p:cNvPr id="10" name="TextBox 9"/>
          <p:cNvSpPr txBox="1"/>
          <p:nvPr/>
        </p:nvSpPr>
        <p:spPr>
          <a:xfrm>
            <a:off x="6912802" y="2260102"/>
            <a:ext cx="3213100" cy="27254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rPr lang="en-US" sz="2800" dirty="0">
                <a:latin typeface="Microsoft YaHei" panose="020B0503020204020204" charset="-122"/>
                <a:ea typeface="Microsoft YaHei" panose="020B0503020204020204" charset="-122"/>
              </a:rPr>
              <a:t>DQL</a:t>
            </a:r>
          </a:p>
          <a:p>
            <a:pPr>
              <a:spcAft>
                <a:spcPts val="700"/>
              </a:spcAft>
              <a:defRPr sz="1400"/>
            </a:pPr>
            <a:r>
              <a:rPr lang="en-US" sz="2400" dirty="0"/>
              <a:t>SELECT</a:t>
            </a:r>
          </a:p>
          <a:p>
            <a:pPr>
              <a:spcAft>
                <a:spcPts val="700"/>
              </a:spcAft>
              <a:defRPr sz="1400"/>
            </a:pPr>
            <a:r>
              <a:rPr lang="en-US" sz="2400" dirty="0"/>
              <a:t>WHERE / ORDER BY</a:t>
            </a:r>
          </a:p>
          <a:p>
            <a:pPr>
              <a:spcAft>
                <a:spcPts val="700"/>
              </a:spcAft>
              <a:defRPr sz="1400"/>
            </a:pPr>
            <a:r>
              <a:rPr lang="en-US" sz="2400" dirty="0"/>
              <a:t>JOIN</a:t>
            </a:r>
          </a:p>
          <a:p>
            <a:pPr>
              <a:spcAft>
                <a:spcPts val="700"/>
              </a:spcAft>
              <a:defRPr sz="1400"/>
            </a:pPr>
            <a:r>
              <a:rPr lang="en-US" sz="2400" dirty="0"/>
              <a:t>GROUP BY / HAVING</a:t>
            </a:r>
          </a:p>
          <a:p>
            <a:endParaRPr lang="en-IN" dirty="0"/>
          </a:p>
        </p:txBody>
      </p:sp>
      <p:sp>
        <p:nvSpPr>
          <p:cNvPr id="11" name="TextBox 10"/>
          <p:cNvSpPr txBox="1"/>
          <p:nvPr/>
        </p:nvSpPr>
        <p:spPr>
          <a:xfrm>
            <a:off x="487017" y="1371601"/>
            <a:ext cx="8047383" cy="798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DDL • DML • DQL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CRUD &amp; SQL 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005840"/>
            <a:ext cx="8686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72D46"/>
                </a:solidFill>
                <a:latin typeface="Aptos Display"/>
              </a:rPr>
              <a:t>CRUD, joins, aggregates, subqueries and views are implemented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1883664"/>
            <a:ext cx="1143000" cy="3492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72D46"/>
                </a:solidFill>
                <a:latin typeface="Aptos Display"/>
              </a:rPr>
              <a:t>CREATE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6800" y="2253615"/>
            <a:ext cx="2357120" cy="43878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800" b="0">
                <a:solidFill>
                  <a:srgbClr val="5C6976"/>
                </a:solidFill>
                <a:latin typeface="Aptos"/>
              </a:rPr>
              <a:t>INSERT test customer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2852928"/>
            <a:ext cx="1143000" cy="3492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72D46"/>
                </a:solidFill>
                <a:latin typeface="Aptos Display"/>
              </a:rPr>
              <a:t>READ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3149473"/>
            <a:ext cx="1920240" cy="3492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5C6976"/>
                </a:solidFill>
                <a:latin typeface="Aptos"/>
              </a:rPr>
              <a:t>SELECT by email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822191"/>
            <a:ext cx="1143000" cy="3492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72D46"/>
                </a:solidFill>
                <a:latin typeface="Aptos Display"/>
              </a:rPr>
              <a:t>UPDATE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9200" y="4191126"/>
            <a:ext cx="1920240" cy="3492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5C6976"/>
                </a:solidFill>
                <a:latin typeface="Aptos"/>
              </a:rPr>
              <a:t>Change city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4791456"/>
            <a:ext cx="1143000" cy="3492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72D46"/>
                </a:solidFill>
                <a:latin typeface="Aptos Display"/>
              </a:rPr>
              <a:t>DELETE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9200" y="5140706"/>
            <a:ext cx="1920240" cy="3492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5C6976"/>
                </a:solidFill>
                <a:latin typeface="Aptos"/>
              </a:rPr>
              <a:t>Remove test row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77055" y="1883410"/>
            <a:ext cx="5422392" cy="3492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FFB37B"/>
                </a:solidFill>
                <a:latin typeface="Aptos Display"/>
              </a:rPr>
              <a:t>JOIN + GROUP BY + HAVING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81400" y="2503805"/>
            <a:ext cx="5848985" cy="285432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2000" b="0" dirty="0">
                <a:solidFill>
                  <a:schemeClr val="tx1"/>
                </a:solidFill>
                <a:latin typeface="Consolas" panose="020B0609020204030204"/>
              </a:rPr>
              <a:t>SELECT c.name, SUM(</a:t>
            </a:r>
            <a:r>
              <a:rPr sz="2000" b="0" dirty="0" err="1">
                <a:solidFill>
                  <a:schemeClr val="tx1"/>
                </a:solidFill>
                <a:latin typeface="Consolas" panose="020B0609020204030204"/>
              </a:rPr>
              <a:t>o.total_amount</a:t>
            </a:r>
            <a:r>
              <a:rPr sz="2000" b="0" dirty="0">
                <a:solidFill>
                  <a:schemeClr val="tx1"/>
                </a:solidFill>
                <a:latin typeface="Consolas" panose="020B0609020204030204"/>
              </a:rPr>
              <a:t>) AS </a:t>
            </a:r>
            <a:r>
              <a:rPr sz="2000" b="0" dirty="0" err="1">
                <a:solidFill>
                  <a:schemeClr val="tx1"/>
                </a:solidFill>
                <a:latin typeface="Consolas" panose="020B0609020204030204"/>
              </a:rPr>
              <a:t>total_spent</a:t>
            </a:r>
            <a:r>
              <a:rPr sz="2000" b="0" dirty="0">
                <a:solidFill>
                  <a:schemeClr val="tx1"/>
                </a:solidFill>
                <a:latin typeface="Consolas" panose="020B0609020204030204"/>
              </a:rPr>
              <a:t>
FROM customer c JOIN orders o
  ON </a:t>
            </a:r>
            <a:r>
              <a:rPr sz="2000" b="0" dirty="0" err="1">
                <a:solidFill>
                  <a:schemeClr val="tx1"/>
                </a:solidFill>
                <a:latin typeface="Consolas" panose="020B0609020204030204"/>
              </a:rPr>
              <a:t>c.customer_id</a:t>
            </a:r>
            <a:r>
              <a:rPr sz="2000" b="0" dirty="0">
                <a:solidFill>
                  <a:schemeClr val="tx1"/>
                </a:solidFill>
                <a:latin typeface="Consolas" panose="020B0609020204030204"/>
              </a:rPr>
              <a:t> = </a:t>
            </a:r>
            <a:r>
              <a:rPr sz="2000" b="0" dirty="0" err="1">
                <a:solidFill>
                  <a:schemeClr val="tx1"/>
                </a:solidFill>
                <a:latin typeface="Consolas" panose="020B0609020204030204"/>
              </a:rPr>
              <a:t>o.customer_id</a:t>
            </a:r>
            <a:r>
              <a:rPr sz="2000" b="0" dirty="0">
                <a:solidFill>
                  <a:schemeClr val="tx1"/>
                </a:solidFill>
                <a:latin typeface="Consolas" panose="020B0609020204030204"/>
              </a:rPr>
              <a:t>
GROUP BY </a:t>
            </a:r>
            <a:r>
              <a:rPr sz="2000" b="0" dirty="0" err="1">
                <a:solidFill>
                  <a:schemeClr val="tx1"/>
                </a:solidFill>
                <a:latin typeface="Consolas" panose="020B0609020204030204"/>
              </a:rPr>
              <a:t>c.customer_id</a:t>
            </a:r>
            <a:r>
              <a:rPr sz="2000" b="0" dirty="0">
                <a:solidFill>
                  <a:schemeClr val="tx1"/>
                </a:solidFill>
                <a:latin typeface="Consolas" panose="020B0609020204030204"/>
              </a:rPr>
              <a:t>, c.name
HAVING SUM(</a:t>
            </a:r>
            <a:r>
              <a:rPr sz="2000" b="0" dirty="0" err="1">
                <a:solidFill>
                  <a:schemeClr val="tx1"/>
                </a:solidFill>
                <a:latin typeface="Consolas" panose="020B0609020204030204"/>
              </a:rPr>
              <a:t>o.total_amount</a:t>
            </a:r>
            <a:r>
              <a:rPr sz="2000" b="0" dirty="0">
                <a:solidFill>
                  <a:schemeClr val="tx1"/>
                </a:solidFill>
                <a:latin typeface="Consolas" panose="020B0609020204030204"/>
              </a:rPr>
              <a:t>) &gt; 1500;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048000" y="335929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 &amp; 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005840"/>
            <a:ext cx="859536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72D46"/>
                </a:solidFill>
                <a:latin typeface="Aptos Display"/>
              </a:rPr>
              <a:t>Validation queries check business data before reporting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1700784"/>
            <a:ext cx="42062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68096" y="1975104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1865376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72D46"/>
                </a:solidFill>
                <a:latin typeface="Aptos Display"/>
              </a:rPr>
              <a:t>Duplicate email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2221992"/>
            <a:ext cx="2606040" cy="5645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C6976"/>
                </a:solidFill>
                <a:latin typeface="Consolas" panose="020B0609020204030204"/>
              </a:rPr>
              <a:t>GROUP BY email HAVING COUNT(*) &gt;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30168" y="1828927"/>
            <a:ext cx="804672" cy="347472"/>
          </a:xfrm>
          <a:prstGeom prst="roundRect">
            <a:avLst>
              <a:gd name="adj" fmla="val 8000"/>
            </a:avLst>
          </a:prstGeom>
          <a:solidFill>
            <a:srgbClr val="FFF2E8"/>
          </a:solidFill>
          <a:ln w="12700">
            <a:solidFill>
              <a:srgbClr val="FF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473" y="1910969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15D0F"/>
                </a:solidFill>
                <a:latin typeface="Aptos"/>
              </a:rPr>
              <a:t>0 expected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102352" y="1700784"/>
            <a:ext cx="42062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25312" y="1865376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72D46"/>
                </a:solidFill>
                <a:latin typeface="Aptos Display"/>
              </a:rPr>
              <a:t>Negative price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25312" y="2221992"/>
            <a:ext cx="2606040" cy="3492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5C6976"/>
                </a:solidFill>
                <a:latin typeface="Consolas" panose="020B0609020204030204"/>
              </a:rPr>
              <a:t>WHERE price &lt; 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57032" y="2084832"/>
            <a:ext cx="804672" cy="347472"/>
          </a:xfrm>
          <a:prstGeom prst="roundRect">
            <a:avLst>
              <a:gd name="adj" fmla="val 8000"/>
            </a:avLst>
          </a:prstGeom>
          <a:solidFill>
            <a:srgbClr val="FFF2E8"/>
          </a:solidFill>
          <a:ln w="12700">
            <a:solidFill>
              <a:srgbClr val="FF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57032" y="2112264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15D0F"/>
                </a:solidFill>
                <a:latin typeface="Aptos"/>
              </a:rPr>
              <a:t>0 expected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118104"/>
            <a:ext cx="42062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389888" y="3282696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72D46"/>
                </a:solidFill>
                <a:latin typeface="Aptos Display"/>
              </a:rPr>
              <a:t>Negative stock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89888" y="3639312"/>
            <a:ext cx="2606040" cy="3492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5C6976"/>
                </a:solidFill>
                <a:latin typeface="Consolas" panose="020B0609020204030204"/>
              </a:rPr>
              <a:t>WHERE stock_qty &lt; 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733673" y="3273552"/>
            <a:ext cx="804672" cy="347472"/>
          </a:xfrm>
          <a:prstGeom prst="roundRect">
            <a:avLst>
              <a:gd name="adj" fmla="val 8000"/>
            </a:avLst>
          </a:prstGeom>
          <a:solidFill>
            <a:srgbClr val="FFF2E8"/>
          </a:solidFill>
          <a:ln w="12700">
            <a:solidFill>
              <a:srgbClr val="FF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733673" y="3276854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15D0F"/>
                </a:solidFill>
                <a:latin typeface="Aptos"/>
              </a:rPr>
              <a:t>0 expected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02352" y="3118104"/>
            <a:ext cx="4206240" cy="1170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25312" y="3282696"/>
            <a:ext cx="22402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72D46"/>
                </a:solidFill>
                <a:latin typeface="Aptos Display"/>
              </a:rPr>
              <a:t>Invalid rating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30875" y="3639185"/>
            <a:ext cx="2800350" cy="41084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800" b="0">
                <a:solidFill>
                  <a:srgbClr val="5C6976"/>
                </a:solidFill>
                <a:latin typeface="Consolas" panose="020B0609020204030204"/>
              </a:rPr>
              <a:t>WHERE rating NOT BETWEEN 1 AND 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57032" y="3502152"/>
            <a:ext cx="804672" cy="347472"/>
          </a:xfrm>
          <a:prstGeom prst="roundRect">
            <a:avLst>
              <a:gd name="adj" fmla="val 8000"/>
            </a:avLst>
          </a:prstGeom>
          <a:solidFill>
            <a:srgbClr val="FFF2E8"/>
          </a:solidFill>
          <a:ln w="12700">
            <a:solidFill>
              <a:srgbClr val="FFF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257032" y="3529584"/>
            <a:ext cx="80467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100" b="1">
                <a:solidFill>
                  <a:srgbClr val="F15D0F"/>
                </a:solidFill>
                <a:latin typeface="Aptos"/>
              </a:rPr>
              <a:t>0 expected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1820" y="4718050"/>
            <a:ext cx="8909050" cy="1607185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rgbClr val="172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768096" y="4846320"/>
            <a:ext cx="8531352" cy="37973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FFB37B"/>
                </a:solidFill>
                <a:latin typeface="Aptos Display"/>
              </a:rPr>
              <a:t>Validation examples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" y="5202936"/>
            <a:ext cx="8531352" cy="557784"/>
          </a:xfrm>
          <a:prstGeom prst="rect">
            <a:avLst/>
          </a:prstGeom>
          <a:solidFill>
            <a:schemeClr val="bg1"/>
          </a:solidFill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600" b="0" dirty="0">
                <a:solidFill>
                  <a:schemeClr val="tx1"/>
                </a:solidFill>
                <a:latin typeface="Consolas" panose="020B0609020204030204"/>
              </a:rPr>
              <a:t>SELECT * FROM review WHERE rating NOT BETWEEN 1 AND 5;   -- verifies the accepted 1–5 range
SELECT email, COUNT(*) FROM customer GROUP BY email HAVING COUNT(*) &gt; 1;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DOCUMENTATION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005840"/>
            <a:ext cx="868680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72D46"/>
                </a:solidFill>
                <a:latin typeface="Aptos Display"/>
              </a:rPr>
              <a:t>Project evidence is organized from design to verification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1700784"/>
            <a:ext cx="278892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1865376"/>
            <a:ext cx="49377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F15D0F"/>
                </a:solidFill>
                <a:latin typeface="Aptos Display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346" y="1865503"/>
            <a:ext cx="1865376" cy="5645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72D46"/>
                </a:solidFill>
                <a:latin typeface="Aptos Display"/>
              </a:rPr>
              <a:t>Problem &amp; objectives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870" y="2407285"/>
            <a:ext cx="2299335" cy="31559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600" b="0">
                <a:solidFill>
                  <a:srgbClr val="5C6976"/>
                </a:solidFill>
                <a:latin typeface="Aptos"/>
              </a:rPr>
              <a:t>Scope and data needs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93592" y="1700784"/>
            <a:ext cx="278892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758184" y="1865376"/>
            <a:ext cx="49377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F15D0F"/>
                </a:solidFill>
                <a:latin typeface="Aptos Display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1847088"/>
            <a:ext cx="1865376" cy="3492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72D46"/>
                </a:solidFill>
                <a:latin typeface="Aptos Display"/>
              </a:rPr>
              <a:t>ER model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51325" y="2230755"/>
            <a:ext cx="2131060" cy="6261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5C6976"/>
                </a:solidFill>
                <a:latin typeface="Aptos"/>
              </a:rPr>
              <a:t>8 </a:t>
            </a:r>
            <a:r>
              <a:rPr sz="1600" b="0">
                <a:solidFill>
                  <a:srgbClr val="5C6976"/>
                </a:solidFill>
                <a:latin typeface="Aptos"/>
              </a:rPr>
              <a:t>entities </a:t>
            </a:r>
            <a:r>
              <a:rPr sz="1800" b="0">
                <a:solidFill>
                  <a:srgbClr val="5C6976"/>
                </a:solidFill>
                <a:latin typeface="Aptos"/>
              </a:rPr>
              <a:t>and relationships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0256" y="1700784"/>
            <a:ext cx="278892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784848" y="1865376"/>
            <a:ext cx="49377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F15D0F"/>
                </a:solidFill>
                <a:latin typeface="Aptos Display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6089" y="1915033"/>
            <a:ext cx="1865376" cy="3181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72D46"/>
                </a:solidFill>
                <a:latin typeface="Aptos Display"/>
              </a:rPr>
              <a:t>Relational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90080" y="2231390"/>
            <a:ext cx="2226945" cy="5645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C6976"/>
                </a:solidFill>
                <a:latin typeface="Aptos"/>
              </a:rPr>
              <a:t>PK, FK and candidate keys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3273552"/>
            <a:ext cx="278892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1520" y="3438144"/>
            <a:ext cx="49377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F15D0F"/>
                </a:solidFill>
                <a:latin typeface="Aptos Display"/>
              </a:rPr>
              <a:t>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1570" y="3420110"/>
            <a:ext cx="2051050" cy="47434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600" b="1">
                <a:solidFill>
                  <a:srgbClr val="172D46"/>
                </a:solidFill>
                <a:latin typeface="Aptos Display"/>
              </a:rPr>
              <a:t>SQL implementation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0600" y="3887470"/>
            <a:ext cx="1847215" cy="639445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/>
            <a:r>
              <a:rPr sz="1600" b="0">
                <a:solidFill>
                  <a:srgbClr val="5C6976"/>
                </a:solidFill>
                <a:latin typeface="Aptos"/>
              </a:rPr>
              <a:t>DDL, seed data and CRUD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593592" y="3273552"/>
            <a:ext cx="278892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58184" y="3438144"/>
            <a:ext cx="49377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F15D0F"/>
                </a:solidFill>
                <a:latin typeface="Aptos Display"/>
              </a:rPr>
              <a:t>05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43400" y="3419856"/>
            <a:ext cx="1865376" cy="3181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72D46"/>
                </a:solidFill>
                <a:latin typeface="Aptos Display"/>
              </a:rPr>
              <a:t>Query evidence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973830" y="3803650"/>
            <a:ext cx="2216785" cy="56451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C6976"/>
                </a:solidFill>
                <a:latin typeface="Aptos"/>
              </a:rPr>
              <a:t>Joins, aggregates and view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620256" y="3273552"/>
            <a:ext cx="2788920" cy="13075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784848" y="3438144"/>
            <a:ext cx="493776" cy="32918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000" b="1">
                <a:solidFill>
                  <a:srgbClr val="F15D0F"/>
                </a:solidFill>
                <a:latin typeface="Aptos Display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370064" y="3419856"/>
            <a:ext cx="1865376" cy="3181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1">
                <a:solidFill>
                  <a:srgbClr val="172D46"/>
                </a:solidFill>
                <a:latin typeface="Aptos Display"/>
              </a:rPr>
              <a:t>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17690" y="3803650"/>
            <a:ext cx="2299335" cy="3181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600" b="0">
                <a:solidFill>
                  <a:srgbClr val="5C6976"/>
                </a:solidFill>
                <a:latin typeface="Aptos"/>
              </a:rPr>
              <a:t>Integrity test queries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/>
          <p:cNvSpPr txBox="1"/>
          <p:nvPr/>
        </p:nvSpPr>
        <p:spPr>
          <a:xfrm>
            <a:off x="4412373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</p:txBody>
      </p:sp>
      <p:pic>
        <p:nvPicPr>
          <p:cNvPr id="17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grpSp>
        <p:nvGrpSpPr>
          <p:cNvPr id="2" name="object 3"/>
          <p:cNvGrpSpPr/>
          <p:nvPr/>
        </p:nvGrpSpPr>
        <p:grpSpPr>
          <a:xfrm>
            <a:off x="2667000" y="85008"/>
            <a:ext cx="5103904" cy="1198311"/>
            <a:chOff x="2648188" y="47148"/>
            <a:chExt cx="5103904" cy="1198311"/>
          </a:xfrm>
        </p:grpSpPr>
        <p:pic>
          <p:nvPicPr>
            <p:cNvPr id="3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4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5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6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3200400" y="321324"/>
            <a:ext cx="502920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95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DEMONSTRATE &amp; PRESENT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1005840"/>
            <a:ext cx="8686800" cy="44132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2300" b="1">
                <a:solidFill>
                  <a:srgbClr val="172D46"/>
                </a:solidFill>
                <a:latin typeface="Aptos Display"/>
              </a:rPr>
              <a:t>Live </a:t>
            </a:r>
            <a:r>
              <a:rPr sz="2400" b="1">
                <a:solidFill>
                  <a:srgbClr val="172D46"/>
                </a:solidFill>
                <a:latin typeface="Aptos Display"/>
              </a:rPr>
              <a:t>demonstration </a:t>
            </a:r>
            <a:r>
              <a:rPr sz="2300" b="1">
                <a:solidFill>
                  <a:srgbClr val="172D46"/>
                </a:solidFill>
                <a:latin typeface="Aptos Display"/>
              </a:rPr>
              <a:t>follows the customer-to-review lifecycle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1741551"/>
            <a:ext cx="658368" cy="430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chemeClr val="tx1"/>
                </a:solidFill>
                <a:latin typeface="Aptos Display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1000" y="2514600"/>
            <a:ext cx="1780540" cy="3181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72D46"/>
                </a:solidFill>
                <a:latin typeface="Aptos"/>
              </a:rPr>
              <a:t>Create schema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5768" y="1741551"/>
            <a:ext cx="658368" cy="430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chemeClr val="tx1"/>
                </a:solidFill>
                <a:latin typeface="Aptos Display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64715" y="2523490"/>
            <a:ext cx="1968500" cy="3181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72D46"/>
                </a:solidFill>
                <a:latin typeface="Aptos"/>
              </a:rPr>
              <a:t>Insert seed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1741551"/>
            <a:ext cx="658368" cy="430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chemeClr val="tx1"/>
                </a:solidFill>
                <a:latin typeface="Aptos Display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33087" y="2523744"/>
            <a:ext cx="1399032" cy="3181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72D46"/>
                </a:solidFill>
                <a:latin typeface="Aptos"/>
              </a:rPr>
              <a:t>Run joins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8605" y="1741551"/>
            <a:ext cx="658368" cy="430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chemeClr val="tx1"/>
                </a:solidFill>
                <a:latin typeface="Aptos Display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16168" y="2523744"/>
            <a:ext cx="1399032" cy="3181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72D46"/>
                </a:solidFill>
                <a:latin typeface="Aptos"/>
              </a:rPr>
              <a:t>Check totals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1385" y="1741551"/>
            <a:ext cx="658368" cy="4305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800" b="1" dirty="0">
                <a:solidFill>
                  <a:schemeClr val="tx1"/>
                </a:solidFill>
                <a:latin typeface="Aptos Display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9248" y="2523744"/>
            <a:ext cx="1399032" cy="31813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600" b="1">
                <a:solidFill>
                  <a:srgbClr val="172D46"/>
                </a:solidFill>
                <a:latin typeface="Aptos"/>
              </a:rPr>
              <a:t>Validate </a:t>
            </a:r>
            <a:r>
              <a:rPr sz="1200" b="1">
                <a:solidFill>
                  <a:srgbClr val="172D46"/>
                </a:solidFill>
                <a:latin typeface="Aptos"/>
              </a:rPr>
              <a:t>data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3255264"/>
            <a:ext cx="2743200" cy="34925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1">
                <a:solidFill>
                  <a:srgbClr val="172D46"/>
                </a:solidFill>
                <a:latin typeface="Aptos Display"/>
              </a:rPr>
              <a:t>KEY RESULTS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3813048"/>
            <a:ext cx="1837943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F15D0F"/>
                </a:solidFill>
                <a:latin typeface="Aptos Display"/>
              </a:rPr>
              <a:t>Rs. 8,692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4261104"/>
            <a:ext cx="1837943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172D46"/>
                </a:solidFill>
                <a:latin typeface="Aptos"/>
              </a:rPr>
              <a:t>TOTAL ORDER VALUE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07208" y="3813048"/>
            <a:ext cx="1837943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F15D0F"/>
                </a:solidFill>
                <a:latin typeface="Aptos Display"/>
              </a:rPr>
              <a:t>Rs. 1,161.5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07208" y="4261104"/>
            <a:ext cx="1837943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172D46"/>
                </a:solidFill>
                <a:latin typeface="Aptos"/>
              </a:rPr>
              <a:t>AVERAGE PRICE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74336" y="3813048"/>
            <a:ext cx="1837943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F15D0F"/>
                </a:solidFill>
                <a:latin typeface="Aptos Display"/>
              </a:rPr>
              <a:t>Rs. 2,499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74336" y="4261104"/>
            <a:ext cx="1837943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172D46"/>
                </a:solidFill>
                <a:latin typeface="Aptos"/>
              </a:rPr>
              <a:t>HIGHEST PRICE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41464" y="3813048"/>
            <a:ext cx="1837943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2500" b="1">
                <a:solidFill>
                  <a:srgbClr val="F15D0F"/>
                </a:solidFill>
                <a:latin typeface="Aptos Display"/>
              </a:rPr>
              <a:t>4.6 / 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41464" y="4261104"/>
            <a:ext cx="1837943" cy="20116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/>
            <a:r>
              <a:rPr sz="1100" b="1">
                <a:solidFill>
                  <a:srgbClr val="172D46"/>
                </a:solidFill>
                <a:latin typeface="Aptos"/>
              </a:rPr>
              <a:t>AVERAGE RATING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66928" y="4937760"/>
            <a:ext cx="8933688" cy="6261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/>
            <a:r>
              <a:rPr sz="1800" b="0">
                <a:solidFill>
                  <a:srgbClr val="5C6976"/>
                </a:solidFill>
                <a:latin typeface="Aptos"/>
              </a:rPr>
              <a:t>Expected demonstration outcome: all 8 tables created, sample rows returned, joins resolved, and validation checks return no invalid records.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object 3"/>
          <p:cNvGrpSpPr/>
          <p:nvPr/>
        </p:nvGrpSpPr>
        <p:grpSpPr>
          <a:xfrm>
            <a:off x="2477248" y="152400"/>
            <a:ext cx="5103904" cy="1198311"/>
            <a:chOff x="2648188" y="47148"/>
            <a:chExt cx="5103904" cy="1198311"/>
          </a:xfrm>
        </p:grpSpPr>
        <p:pic>
          <p:nvPicPr>
            <p:cNvPr id="8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8188" y="47148"/>
              <a:ext cx="5103904" cy="1198311"/>
            </a:xfrm>
            <a:prstGeom prst="rect">
              <a:avLst/>
            </a:prstGeom>
          </p:spPr>
        </p:pic>
        <p:pic>
          <p:nvPicPr>
            <p:cNvPr id="9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03195" y="86439"/>
              <a:ext cx="4997767" cy="1092279"/>
            </a:xfrm>
            <a:prstGeom prst="rect">
              <a:avLst/>
            </a:prstGeom>
          </p:spPr>
        </p:pic>
        <p:pic>
          <p:nvPicPr>
            <p:cNvPr id="10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28925" y="243549"/>
              <a:ext cx="4585268" cy="522565"/>
            </a:xfrm>
            <a:prstGeom prst="rect">
              <a:avLst/>
            </a:prstGeom>
          </p:spPr>
        </p:pic>
        <p:sp>
          <p:nvSpPr>
            <p:cNvPr id="11" name="object 7"/>
            <p:cNvSpPr/>
            <p:nvPr/>
          </p:nvSpPr>
          <p:spPr>
            <a:xfrm>
              <a:off x="2883931" y="282892"/>
              <a:ext cx="4479290" cy="416559"/>
            </a:xfrm>
            <a:custGeom>
              <a:avLst/>
              <a:gdLst/>
              <a:ahLst/>
              <a:cxnLst/>
              <a:rect l="l" t="t" r="r" b="b"/>
              <a:pathLst>
                <a:path w="4479290" h="416559">
                  <a:moveTo>
                    <a:pt x="4394158" y="0"/>
                  </a:moveTo>
                  <a:lnTo>
                    <a:pt x="84972" y="0"/>
                  </a:lnTo>
                  <a:lnTo>
                    <a:pt x="51863" y="5448"/>
                  </a:lnTo>
                  <a:lnTo>
                    <a:pt x="24831" y="20326"/>
                  </a:lnTo>
                  <a:lnTo>
                    <a:pt x="6705" y="42329"/>
                  </a:lnTo>
                  <a:lnTo>
                    <a:pt x="0" y="69361"/>
                  </a:lnTo>
                  <a:lnTo>
                    <a:pt x="0" y="346910"/>
                  </a:lnTo>
                  <a:lnTo>
                    <a:pt x="6705" y="373941"/>
                  </a:lnTo>
                  <a:lnTo>
                    <a:pt x="24831" y="395944"/>
                  </a:lnTo>
                  <a:lnTo>
                    <a:pt x="51863" y="410822"/>
                  </a:lnTo>
                  <a:lnTo>
                    <a:pt x="84972" y="416271"/>
                  </a:lnTo>
                  <a:lnTo>
                    <a:pt x="4394158" y="416271"/>
                  </a:lnTo>
                  <a:lnTo>
                    <a:pt x="4427267" y="410822"/>
                  </a:lnTo>
                  <a:lnTo>
                    <a:pt x="4454299" y="395944"/>
                  </a:lnTo>
                  <a:lnTo>
                    <a:pt x="4472425" y="373941"/>
                  </a:lnTo>
                  <a:lnTo>
                    <a:pt x="4479131" y="346910"/>
                  </a:lnTo>
                  <a:lnTo>
                    <a:pt x="4479131" y="69361"/>
                  </a:lnTo>
                  <a:lnTo>
                    <a:pt x="4472425" y="42329"/>
                  </a:lnTo>
                  <a:lnTo>
                    <a:pt x="4454299" y="20326"/>
                  </a:lnTo>
                  <a:lnTo>
                    <a:pt x="4427267" y="5448"/>
                  </a:lnTo>
                  <a:lnTo>
                    <a:pt x="4394158" y="0"/>
                  </a:lnTo>
                  <a:close/>
                </a:path>
              </a:pathLst>
            </a:custGeom>
            <a:solidFill>
              <a:srgbClr val="FF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9"/>
          <p:cNvSpPr txBox="1">
            <a:spLocks noGrp="1"/>
          </p:cNvSpPr>
          <p:nvPr>
            <p:ph type="title"/>
          </p:nvPr>
        </p:nvSpPr>
        <p:spPr>
          <a:xfrm>
            <a:off x="3945255" y="432593"/>
            <a:ext cx="2167890" cy="3276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en-IN" sz="19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pic>
        <p:nvPicPr>
          <p:cNvPr id="13" name="object 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6504" y="2743200"/>
            <a:ext cx="8991600" cy="2666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700"/>
              </a:spcAft>
              <a:defRPr sz="1400"/>
            </a:pPr>
            <a:r>
              <a:rPr sz="1800" b="1">
                <a:solidFill>
                  <a:srgbClr val="172D46"/>
                </a:solidFill>
                <a:latin typeface="Aptos"/>
              </a:rPr>
              <a:t>Key learning:</a:t>
            </a:r>
            <a:r>
              <a:rPr sz="1500">
                <a:solidFill>
                  <a:srgbClr val="191D21"/>
                </a:solidFill>
                <a:latin typeface="Aptos"/>
              </a:rPr>
              <a:t> </a:t>
            </a:r>
            <a:r>
              <a:rPr sz="1800">
                <a:solidFill>
                  <a:srgbClr val="191D21"/>
                </a:solidFill>
                <a:latin typeface="Aptos"/>
              </a:rPr>
              <a:t>ER modelling, normalization, PK/FK design, constraints and SQL querying.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72D46"/>
                </a:solidFill>
                <a:latin typeface="Aptos"/>
              </a:rPr>
              <a:t>Implemented</a:t>
            </a:r>
            <a:r>
              <a:rPr sz="1500" b="1">
                <a:solidFill>
                  <a:srgbClr val="172D46"/>
                </a:solidFill>
                <a:latin typeface="Aptos"/>
              </a:rPr>
              <a:t>:</a:t>
            </a:r>
            <a:r>
              <a:rPr sz="1500">
                <a:solidFill>
                  <a:srgbClr val="191D21"/>
                </a:solidFill>
                <a:latin typeface="Aptos"/>
              </a:rPr>
              <a:t> </a:t>
            </a:r>
            <a:r>
              <a:rPr sz="1800">
                <a:solidFill>
                  <a:srgbClr val="191D21"/>
                </a:solidFill>
                <a:latin typeface="Aptos"/>
              </a:rPr>
              <a:t>8 related tables, seeded transaction data, 29 review queries, CRUD operations and order_summary view.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72D46"/>
                </a:solidFill>
                <a:latin typeface="Aptos"/>
              </a:rPr>
              <a:t>Verified:</a:t>
            </a:r>
            <a:r>
              <a:rPr sz="1500">
                <a:solidFill>
                  <a:srgbClr val="191D21"/>
                </a:solidFill>
                <a:latin typeface="Aptos"/>
              </a:rPr>
              <a:t> </a:t>
            </a:r>
            <a:r>
              <a:rPr lang="en-US" altLang="en-US" sz="1800">
                <a:solidFill>
                  <a:srgbClr val="191D21"/>
                </a:solidFill>
                <a:latin typeface="Aptos"/>
              </a:rPr>
              <a:t>J</a:t>
            </a:r>
            <a:r>
              <a:rPr sz="1800">
                <a:solidFill>
                  <a:srgbClr val="191D21"/>
                </a:solidFill>
                <a:latin typeface="Aptos"/>
              </a:rPr>
              <a:t>oins, aggregates, subqueries and data-quality checks support consistent reporting.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72D46"/>
                </a:solidFill>
                <a:latin typeface="Aptos"/>
              </a:rPr>
              <a:t>Future enhancements:</a:t>
            </a:r>
            <a:r>
              <a:rPr sz="1800">
                <a:solidFill>
                  <a:srgbClr val="191D21"/>
                </a:solidFill>
                <a:latin typeface="Aptos"/>
              </a:rPr>
              <a:t> </a:t>
            </a:r>
            <a:r>
              <a:rPr lang="en-US" altLang="en-US" sz="1800">
                <a:solidFill>
                  <a:srgbClr val="191D21"/>
                </a:solidFill>
                <a:latin typeface="Aptos"/>
              </a:rPr>
              <a:t>C</a:t>
            </a:r>
            <a:r>
              <a:rPr sz="1800">
                <a:solidFill>
                  <a:srgbClr val="191D21"/>
                </a:solidFill>
                <a:latin typeface="Aptos"/>
              </a:rPr>
              <a:t>art, secure authentication, inventory automation and analytics dashboard.</a:t>
            </a:r>
          </a:p>
          <a:p>
            <a:pPr>
              <a:spcAft>
                <a:spcPts val="700"/>
              </a:spcAft>
            </a:pPr>
            <a:r>
              <a:rPr sz="1800" b="1">
                <a:solidFill>
                  <a:srgbClr val="172D46"/>
                </a:solidFill>
                <a:latin typeface="Aptos"/>
              </a:rPr>
              <a:t>Final status:</a:t>
            </a:r>
            <a:r>
              <a:rPr sz="1500">
                <a:solidFill>
                  <a:srgbClr val="191D21"/>
                </a:solidFill>
                <a:latin typeface="Aptos"/>
              </a:rPr>
              <a:t> </a:t>
            </a:r>
            <a:r>
              <a:rPr lang="en-US" altLang="en-US" sz="1800">
                <a:solidFill>
                  <a:srgbClr val="191D21"/>
                </a:solidFill>
                <a:latin typeface="Aptos"/>
              </a:rPr>
              <a:t>D</a:t>
            </a:r>
            <a:r>
              <a:rPr sz="1800">
                <a:solidFill>
                  <a:srgbClr val="191D21"/>
                </a:solidFill>
                <a:latin typeface="Aptos"/>
              </a:rPr>
              <a:t>atabase design and MySQL implementation completed for final review.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140917"/>
            <a:ext cx="9982200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Online Shopping System</a:t>
            </a:r>
            <a:r>
              <a:rPr lang="en-US" sz="2400" dirty="0"/>
              <a:t>:Relational database design + SQL </a:t>
            </a:r>
          </a:p>
          <a:p>
            <a:r>
              <a:rPr lang="en-US" altLang="en-IN" dirty="0"/>
              <a:t>                                                               </a:t>
            </a:r>
            <a:r>
              <a:rPr lang="en-US" altLang="en-IN" sz="1600" dirty="0"/>
              <a:t> </a:t>
            </a:r>
            <a:r>
              <a:rPr lang="en-US" sz="2000" dirty="0">
                <a:sym typeface="+mn-ea"/>
              </a:rPr>
              <a:t>implementation covering core e-commerce data</a:t>
            </a:r>
            <a:endParaRPr lang="en-US" sz="2000" dirty="0"/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en-IN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00400" y="3352800"/>
            <a:ext cx="4038600" cy="738664"/>
          </a:xfrm>
        </p:spPr>
        <p:txBody>
          <a:bodyPr/>
          <a:lstStyle/>
          <a:p>
            <a:r>
              <a:rPr lang="en-IN" sz="4800" dirty="0">
                <a:solidFill>
                  <a:schemeClr val="accent6">
                    <a:lumMod val="75000"/>
                  </a:schemeClr>
                </a:solidFill>
              </a:rPr>
              <a:t>THANK YOU</a:t>
            </a:r>
          </a:p>
        </p:txBody>
      </p:sp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0750" y="204311"/>
            <a:ext cx="1163002" cy="4243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1480</Words>
  <Application>Microsoft Office PowerPoint</Application>
  <PresentationFormat>Custom</PresentationFormat>
  <Paragraphs>250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9" baseType="lpstr">
      <vt:lpstr>Microsoft YaHei</vt:lpstr>
      <vt:lpstr>Aptos</vt:lpstr>
      <vt:lpstr>Aptos Display</vt:lpstr>
      <vt:lpstr>Arial</vt:lpstr>
      <vt:lpstr>Arial Narrow</vt:lpstr>
      <vt:lpstr>Calibri</vt:lpstr>
      <vt:lpstr>Cambria</vt:lpstr>
      <vt:lpstr>Consolas</vt:lpstr>
      <vt:lpstr>Palatino Linotype</vt:lpstr>
      <vt:lpstr>Times New Roman</vt:lpstr>
      <vt:lpstr>Wingdings</vt:lpstr>
      <vt:lpstr>Office Theme</vt:lpstr>
      <vt:lpstr>Database Management Systems Cornerstone Project Final Review (Review I &amp; II)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Shopping System — DBMS Final Review</dc:title>
  <dc:subject>Database design and MySQL implementation</dc:subject>
  <dc:creator>Project Team</dc:creator>
  <cp:keywords>DBMS, MySQL, Online Shopping System, ER Diagram, SQL</cp:keywords>
  <cp:lastModifiedBy>NIKIL SAI KUMAR RERDDY</cp:lastModifiedBy>
  <cp:revision>54</cp:revision>
  <cp:lastPrinted>2025-10-14T18:21:00Z</cp:lastPrinted>
  <dcterms:created xsi:type="dcterms:W3CDTF">2025-10-10T08:28:00Z</dcterms:created>
  <dcterms:modified xsi:type="dcterms:W3CDTF">2026-10-07T05:31:56Z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2025-09-12T11:00:00Z</vt:filetime>
  </property>
  <property fmtid="{D5CDD505-2E9C-101B-9397-08002B2CF9AE}" pid="3" name="LastSaved">
    <vt:filetime>2025-10-10T11:00:00Z</vt:filetime>
  </property>
  <property fmtid="{D5CDD505-2E9C-101B-9397-08002B2CF9AE}" pid="4" name="KSOProductBuildVer">
    <vt:lpwstr>1033-12.1.0.28485</vt:lpwstr>
  </property>
  <property fmtid="{D5CDD505-2E9C-101B-9397-08002B2CF9AE}" pid="5" name="ICV">
    <vt:lpwstr>02A95DBA0F9541E48217857CA339D7D0_13</vt:lpwstr>
  </property>
</Properties>
</file>